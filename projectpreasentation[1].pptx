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32"/>
  </p:notesMasterIdLst>
  <p:sldIdLst>
    <p:sldId id="275" r:id="rId2"/>
    <p:sldId id="276" r:id="rId3"/>
    <p:sldId id="259" r:id="rId4"/>
    <p:sldId id="258" r:id="rId5"/>
    <p:sldId id="260" r:id="rId6"/>
    <p:sldId id="261" r:id="rId7"/>
    <p:sldId id="284" r:id="rId8"/>
    <p:sldId id="262" r:id="rId9"/>
    <p:sldId id="285" r:id="rId10"/>
    <p:sldId id="263" r:id="rId11"/>
    <p:sldId id="264" r:id="rId12"/>
    <p:sldId id="277" r:id="rId13"/>
    <p:sldId id="265" r:id="rId14"/>
    <p:sldId id="283" r:id="rId15"/>
    <p:sldId id="266" r:id="rId16"/>
    <p:sldId id="286" r:id="rId17"/>
    <p:sldId id="282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81" r:id="rId27"/>
    <p:sldId id="287" r:id="rId28"/>
    <p:sldId id="288" r:id="rId29"/>
    <p:sldId id="279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86EC3-E56A-4A90-89A2-A7CBD17A47C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9ADBF-8F27-4CA1-BBFA-49FDCC011F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56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9ADBF-8F27-4CA1-BBFA-49FDCC011F9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96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9ADBF-8F27-4CA1-BBFA-49FDCC011F9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17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F41E-C500-E045-945D-1E2D1913A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37B6C-2C56-60F3-C2BC-164A87915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98701-F476-44AF-4873-586B4A4A4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C6091-467A-9458-D509-1384E7B7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67F6D-CA7D-B42E-3E4B-3DD0EE84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24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4637-CBCF-CA53-795C-112E5ACE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D03A4-E54C-75C7-E378-0F4AB57E2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0011-1E56-6EDE-53DE-F4820B98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27295-CA05-F4A4-D88A-AED72483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0B707-BB45-57F2-51F3-2B00F661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36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D37-4A5D-B41E-5889-2802751D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B78AA-F363-A040-B67B-31AB6A00C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9EA89-9973-067B-1FCD-9E25B139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F1DD7-1F4B-67F5-D69B-0043257D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01BCE-5BB4-2569-C005-FF027E01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58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6DD2-AB03-76DC-8577-2CC4EE8A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5BFD6-607D-009F-3956-7AB010F9C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F6C44-7FFB-EC93-E0F1-FDEC698FB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A9FAB-66D7-B671-4DE4-D94998840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96242-77DC-6B33-711A-5C37E2B9F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1F93F-6375-37F4-6AB2-B13828B3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0957-60A1-F659-89BA-2F724A07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FB592-0BE0-D176-BD59-2DDF41230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924B5-95EF-7B03-5078-A0C961EB6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92AF9-7717-DD4E-7253-A4D413DC1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A41578-AE3D-437B-D795-2AF92BC11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A5883-26D6-7D73-D209-C022EC26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5467EF-599D-C8E5-0A31-992831BB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71A03B-B60B-0A9C-1BAF-DF58B4EA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97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3295-033E-C31F-F4B0-2E799307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169A9-1F00-ACB1-EA60-DCBBFD9D5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1CC54-F392-0D0D-8205-F7B3D253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1D77D-CF9B-DEF0-4F1F-93A15CF9B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51760-7EE3-9F30-AF0F-50B9E644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676D4-D97F-F32E-8221-98F80711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24D5-E2D0-F0D1-86F2-AFB00D6A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48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7009-FBED-2E57-D358-EEAA973E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3D492-B195-8A89-04CD-31BE05869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3ADBD-548A-28C6-A731-B7BF8B8FA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9F955-DEA8-4C95-09FE-FF436CBD0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B3C1B-98BF-2541-6FEB-AA94D5B4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5405E-B0E9-DFA9-EF53-E5F965BC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23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B32E7-315B-7940-ECCB-10F6F1A20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A6B8B-5F10-63C1-8ED7-029D9F951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D64BC-E736-8931-EB51-1FF97CC17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BE90D-A202-4B1D-2619-AAEBC5CF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88671-D00E-002D-1403-DC523DA4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A0AC8-F500-F425-43AF-B29329C6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92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517F-73B2-CDFF-0A40-1F9FBFFF9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5AD3F-C2B2-FB2B-DE08-1E006F28D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0B206-29B3-8270-05AB-1D063A98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5CC50-8A4E-475F-169D-D98E4B8E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27AE9-BC57-D94E-5817-BD60434F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117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2FD07-59A2-EE59-4114-9A66862A5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89922-13C2-B13E-6DB3-871A5B939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FDFE3-FFDF-2666-2400-D5AC738C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21053-6369-3882-57C8-00CDF7FF2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B957F-CFDB-1740-B3CF-F642034D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3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821304-90D9-6AFB-AEED-E6EBC8F35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E39D4-C303-BEFE-178B-9A83CF58A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2DAFC-C29E-A759-EDAF-B1B453F81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67FA7-E5DD-590A-D454-456264463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6D16-0E4E-6B40-1452-81A74267C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16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0CDF77-7353-84F2-0396-DBEDFF066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4838" y="464574"/>
            <a:ext cx="9242323" cy="5928851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BF13A-7ECF-AC04-65A6-ED1312949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92363" y="464574"/>
            <a:ext cx="4807272" cy="15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212000-FED8-7459-CC95-110425559662}"/>
              </a:ext>
            </a:extLst>
          </p:cNvPr>
          <p:cNvSpPr txBox="1"/>
          <p:nvPr/>
        </p:nvSpPr>
        <p:spPr>
          <a:xfrm>
            <a:off x="1238866" y="2153265"/>
            <a:ext cx="963069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Deep Learning Models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Damage Detection and Segmentation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Enhanced EfficientNet-B4 + U-Net 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PHASE-I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                                                                                                Project Guide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Manikandan G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9111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  Dr. G. Revathy, M. E., Ph. D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Dhinesh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2619135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  Assistant Professor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School of Engineering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VISTAS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48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C72A5A-C05B-AA94-35C2-1E41836D2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716" y="383458"/>
            <a:ext cx="10038736" cy="5906729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b="1" dirty="0"/>
              <a:t> </a:t>
            </a:r>
            <a:endParaRPr lang="en-IN" dirty="0"/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and segmentation of road surface damage are vital for smart-city maintenance and safety. Manual inspections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slow, costly, and prone to human error,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motivating the use of deep-learning vision systems for scalable road monitoring. This study compares three deep models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segmentation, YOLOv8 detection, and a proposed Enhanced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 + U-Net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unified pothole segmentation dataset of 780 annotated images under varied lighting and surface conditions. The proposed model, featuring channel-attention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deep supervision, achieved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94% accuracy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= 0.74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0.62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(0.67, 0.54) and YOLOv8 (0.47). Ablation results confirm improved boundary precision and faster convergence. Overall, the model provides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balance of accuracy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road-quality mapping and maintenance planning, with future work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focusing on larger datasets and real-time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deployment.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/>
              <a:t> </a:t>
            </a:r>
            <a:endParaRPr lang="en-IN" dirty="0"/>
          </a:p>
          <a:p>
            <a:pPr algn="just">
              <a:lnSpc>
                <a:spcPct val="100000"/>
              </a:lnSpc>
            </a:pP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Terms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Deep Learning, Road Damage Detection,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U-Net, YOLOv8, Semantic Segmentation, Pothole Detection, Computer Vision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21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E9E1F-F657-9715-CA3F-50EF9203E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surface damage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potholes, cracks, and depressions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poses a serious threat to vehicles and driver safety.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road inspection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slow, labor-intensive, and inconsistent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delayed maintenance.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computer vision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provide fast, reliable, and consistent results.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use AI to make road inspection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accurate, and scalable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modern infrastructure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95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E3B4E-DD37-972B-489F-E41588F32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271" y="1227803"/>
            <a:ext cx="9527458" cy="4402394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 in many countries degrade due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traffic, rainfall, and aging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Human-based inspection systems often fail to detect damage on time.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AI models have limitations: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models (YOLO)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fast but not precise.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models (U-Net,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accurate but computationally heavy.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framework combining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real-time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still needed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33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EA9B-72B7-7E25-D74A-67E719CD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1053548"/>
            <a:ext cx="10180983" cy="4166152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deep-learning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(baseline), YOLOv8 (detector), and Enhanced EfficientNet-B4 + U-Net (proposed).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improved segmentation model that 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accuracy, precise boundaries, and fast convergence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analyze results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Accuracy, Dice Score,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how the proposed model can be applied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road-quality monitoring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1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18073-09CD-4714-C0DF-31455D6C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7" y="1133061"/>
            <a:ext cx="10484500" cy="408663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: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studies have explored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CNNs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pothole and crack detection.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focused only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(bounding boxes)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segmentation.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used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sensor-fusion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accelerometer-based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but lacked image-level precision.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bridges the gap by providing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comparison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single, unified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fair evaluation.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22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AEA6A-9016-79C3-9CF9-65DF5E2E9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9A1D3FA-F049-6FE5-2B51-330D64A72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287015"/>
              </p:ext>
            </p:extLst>
          </p:nvPr>
        </p:nvGraphicFramePr>
        <p:xfrm>
          <a:off x="1189125" y="2216949"/>
          <a:ext cx="20960763" cy="3309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705840" imgH="1058401" progId="Word.Document.12">
                  <p:embed/>
                </p:oleObj>
              </mc:Choice>
              <mc:Fallback>
                <p:oleObj name="Document" r:id="rId3" imgW="6705840" imgH="1058401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5DCCC3-7935-E88C-5E4C-0A8933C392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9125" y="2216949"/>
                        <a:ext cx="20960763" cy="3309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077F47D-F61E-CCC8-100C-9170CB9A4836}"/>
              </a:ext>
            </a:extLst>
          </p:cNvPr>
          <p:cNvSpPr txBox="1"/>
          <p:nvPr/>
        </p:nvSpPr>
        <p:spPr>
          <a:xfrm>
            <a:off x="958674" y="846067"/>
            <a:ext cx="4548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Benchmark: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C175C-3A9F-4532-1AA3-D60AC0900A44}"/>
              </a:ext>
            </a:extLst>
          </p:cNvPr>
          <p:cNvSpPr txBox="1"/>
          <p:nvPr/>
        </p:nvSpPr>
        <p:spPr>
          <a:xfrm>
            <a:off x="1475509" y="1592804"/>
            <a:ext cx="11092068" cy="624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565">
              <a:lnSpc>
                <a:spcPct val="96000"/>
              </a:lnSpc>
              <a:spcBef>
                <a:spcPts val="395"/>
              </a:spcBef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I: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Benchmark comparison with recent literature (2020–2025). Our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achieves the best overall segmentation metrics.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042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695CD-B6F9-9FFB-0142-8D8ED4457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74" y="874643"/>
            <a:ext cx="10141226" cy="434505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:</a:t>
            </a:r>
          </a:p>
          <a:p>
            <a:pPr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Farzad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Nekouei’s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Pothole Image Segmentation Dataset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(Kaggle).</a:t>
            </a:r>
          </a:p>
          <a:p>
            <a:pPr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curated subset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780 annotated images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prepared:</a:t>
            </a:r>
          </a:p>
          <a:p>
            <a:pPr lvl="1"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 for training</a:t>
            </a:r>
          </a:p>
          <a:p>
            <a:pPr lvl="1"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for validation</a:t>
            </a:r>
          </a:p>
          <a:p>
            <a:pPr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vary in:</a:t>
            </a:r>
          </a:p>
          <a:p>
            <a:pPr lvl="1"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(day/night, dry/wet conditions)</a:t>
            </a:r>
          </a:p>
          <a:p>
            <a:pPr lvl="1"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 size (small cracks to large potholes)</a:t>
            </a:r>
          </a:p>
          <a:p>
            <a:pPr lvl="1"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 and road types</a:t>
            </a:r>
          </a:p>
          <a:p>
            <a:pPr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image has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segmentation mask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ground truth labeling.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086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B2757-33F5-CD34-98B4-8414C54B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1A2D-A568-D63F-B29F-5D24E4C8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253" y="815009"/>
            <a:ext cx="10121348" cy="440469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Representation:</a:t>
            </a:r>
          </a:p>
          <a:p>
            <a:endParaRPr lang="en-IN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77A6AA5-EF92-8096-5D3E-8103E1D5D0C3}"/>
              </a:ext>
            </a:extLst>
          </p:cNvPr>
          <p:cNvPicPr>
            <a:picLocks/>
          </p:cNvPicPr>
          <p:nvPr/>
        </p:nvPicPr>
        <p:blipFill>
          <a:blip r:embed="rId2" cstate="print"/>
          <a:srcRect t="8017"/>
          <a:stretch>
            <a:fillRect/>
          </a:stretch>
        </p:blipFill>
        <p:spPr>
          <a:xfrm>
            <a:off x="180091" y="1470991"/>
            <a:ext cx="6936326" cy="2941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435605-75C6-ED0A-8D64-A89443710DBA}"/>
              </a:ext>
            </a:extLst>
          </p:cNvPr>
          <p:cNvSpPr txBox="1"/>
          <p:nvPr/>
        </p:nvSpPr>
        <p:spPr>
          <a:xfrm>
            <a:off x="1295399" y="4619535"/>
            <a:ext cx="58210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Representative input and corresponding ground-truth mask extracted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the unified dataset.</a:t>
            </a:r>
          </a:p>
          <a:p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Left: original image; </a:t>
            </a:r>
          </a:p>
          <a:p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Right: binary mask (white =</a:t>
            </a:r>
            <a:r>
              <a:rPr lang="en-US" sz="2000" b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pothole).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7422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E86F-03B7-2CDD-6EA1-959B5DC7E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914400"/>
            <a:ext cx="10220739" cy="4305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Augmentation :</a:t>
            </a:r>
          </a:p>
          <a:p>
            <a:pPr>
              <a:lnSpc>
                <a:spcPct val="11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were resized to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 × 512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pixels for uniformity.</a:t>
            </a:r>
          </a:p>
          <a:p>
            <a:pPr>
              <a:lnSpc>
                <a:spcPct val="11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using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 mean and standard deviation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pre-trained model compatibility.</a:t>
            </a:r>
          </a:p>
          <a:p>
            <a:pPr>
              <a:lnSpc>
                <a:spcPct val="11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for better generalization:</a:t>
            </a:r>
          </a:p>
          <a:p>
            <a:pPr lvl="1">
              <a:lnSpc>
                <a:spcPct val="11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flips and rotations</a:t>
            </a:r>
          </a:p>
          <a:p>
            <a:pPr lvl="1">
              <a:lnSpc>
                <a:spcPct val="11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Brightness/contrast adjustments</a:t>
            </a:r>
          </a:p>
          <a:p>
            <a:pPr lvl="1">
              <a:lnSpc>
                <a:spcPct val="11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blur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jitter</a:t>
            </a:r>
          </a:p>
          <a:p>
            <a:pPr lvl="1">
              <a:lnSpc>
                <a:spcPct val="11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scaling between 0.8 – 1.2</a:t>
            </a:r>
          </a:p>
          <a:p>
            <a:pPr>
              <a:lnSpc>
                <a:spcPct val="11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improved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diverse real-world scenarios.</a:t>
            </a:r>
          </a:p>
          <a:p>
            <a:pPr>
              <a:lnSpc>
                <a:spcPct val="11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16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5FBFD-F05B-6DBC-9469-8EB9C57AB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1 –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(Segmentation Baseline)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ResNet-34 encoder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pre-trained on ImageNet.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Attached to a simple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convolution layers.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lightweight and easy to train.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 lacks attention mechanisms and deep supervision, leading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weaker boundary precision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comparison.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942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ABE659-0698-5384-539C-04080B2A9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730" y="3429000"/>
            <a:ext cx="7184251" cy="333736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FCF5E87-66D8-24CA-C102-2EA9C6FAE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645" y="245806"/>
            <a:ext cx="10274710" cy="6223819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Image 116">
            <a:extLst>
              <a:ext uri="{FF2B5EF4-FFF2-40B4-BE49-F238E27FC236}">
                <a16:creationId xmlns:a16="http://schemas.microsoft.com/office/drawing/2014/main" id="{BF1D9A4F-6ECE-37F2-6438-8919B9853A5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59" y="845554"/>
            <a:ext cx="4219283" cy="27198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F64E04-F645-8AE9-3F7E-7BA973BB0D32}"/>
              </a:ext>
            </a:extLst>
          </p:cNvPr>
          <p:cNvSpPr txBox="1"/>
          <p:nvPr/>
        </p:nvSpPr>
        <p:spPr>
          <a:xfrm>
            <a:off x="614191" y="388375"/>
            <a:ext cx="6097836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1 –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8351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B3F9-74B5-04CB-012A-0FBAB3E14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715729"/>
            <a:ext cx="9601200" cy="3581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2 – YOLOv8 (Detection Baseline)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state-of-the-art object detector capable of real-time performance.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potholes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pixel masks.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fast and suitable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or vehicle-mounted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in quick localization tasks.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accurate segmentation or volume estimation.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identifies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damaged region roughly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399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D7751-31F1-1540-57A3-BDD0AB04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6B3C16-2036-C307-3A33-EC07093D76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320"/>
          <a:stretch>
            <a:fillRect/>
          </a:stretch>
        </p:blipFill>
        <p:spPr>
          <a:xfrm>
            <a:off x="5462530" y="2716057"/>
            <a:ext cx="6286782" cy="389613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DC79689-0D5D-3F0D-E8DD-87C65B860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645" y="245806"/>
            <a:ext cx="10274710" cy="6223819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A4337-0E33-D4E8-723F-37DAE0428C92}"/>
              </a:ext>
            </a:extLst>
          </p:cNvPr>
          <p:cNvSpPr txBox="1"/>
          <p:nvPr/>
        </p:nvSpPr>
        <p:spPr>
          <a:xfrm>
            <a:off x="574891" y="388375"/>
            <a:ext cx="6097836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2 – YOLOv8 (Detection Baseline)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24757E-C58D-D962-6E7C-C61A75783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45" y="968047"/>
            <a:ext cx="3496019" cy="349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54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2F5F3-4FF0-24A8-CF30-A706709E1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3 – Enhanced EfficientNet-B4 + U-Net (Proposed)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 encoder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decoder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detailed segmentation.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enhancements:</a:t>
            </a:r>
          </a:p>
          <a:p>
            <a:pPr lvl="1"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Channel-attention skip connections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focus on important features and reduce noise.</a:t>
            </a:r>
          </a:p>
          <a:p>
            <a:pPr lvl="1"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supervision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auxiliary outputs improve training stability and boundary sharpness.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feature richness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segmentation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other models in Dice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metrics.</a:t>
            </a:r>
          </a:p>
          <a:p>
            <a:pPr>
              <a:lnSpc>
                <a:spcPct val="12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216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D54BF-81CF-F6E8-EB68-A26D2C32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C54CC-C0D0-8647-FD93-780BE7A9E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871B4F-D640-D9C1-168D-5B41DB46B7B3}"/>
              </a:ext>
            </a:extLst>
          </p:cNvPr>
          <p:cNvGrpSpPr>
            <a:grpSpLocks/>
          </p:cNvGrpSpPr>
          <p:nvPr/>
        </p:nvGrpSpPr>
        <p:grpSpPr>
          <a:xfrm>
            <a:off x="1627973" y="1382461"/>
            <a:ext cx="2376170" cy="4093078"/>
            <a:chOff x="7591" y="7591"/>
            <a:chExt cx="2376170" cy="4093078"/>
          </a:xfrm>
        </p:grpSpPr>
        <p:sp>
          <p:nvSpPr>
            <p:cNvPr id="4" name="Graphic 87">
              <a:extLst>
                <a:ext uri="{FF2B5EF4-FFF2-40B4-BE49-F238E27FC236}">
                  <a16:creationId xmlns:a16="http://schemas.microsoft.com/office/drawing/2014/main" id="{ED4F7897-0FEA-453C-9CAC-C95DF73E0B66}"/>
                </a:ext>
              </a:extLst>
            </p:cNvPr>
            <p:cNvSpPr/>
            <p:nvPr/>
          </p:nvSpPr>
          <p:spPr>
            <a:xfrm>
              <a:off x="7591" y="7591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0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0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solidFill>
              <a:srgbClr val="EAEAFF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" name="Graphic 88">
              <a:extLst>
                <a:ext uri="{FF2B5EF4-FFF2-40B4-BE49-F238E27FC236}">
                  <a16:creationId xmlns:a16="http://schemas.microsoft.com/office/drawing/2014/main" id="{3F33B509-768F-1E94-C192-E0B27E5D0EDC}"/>
                </a:ext>
              </a:extLst>
            </p:cNvPr>
            <p:cNvSpPr/>
            <p:nvPr/>
          </p:nvSpPr>
          <p:spPr>
            <a:xfrm>
              <a:off x="7591" y="7591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0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0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ln w="15183">
              <a:solidFill>
                <a:srgbClr val="6666FF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" name="Graphic 89">
              <a:extLst>
                <a:ext uri="{FF2B5EF4-FFF2-40B4-BE49-F238E27FC236}">
                  <a16:creationId xmlns:a16="http://schemas.microsoft.com/office/drawing/2014/main" id="{F1A9A5E9-9C9E-7A28-511C-5CC7FB4A3053}"/>
                </a:ext>
              </a:extLst>
            </p:cNvPr>
            <p:cNvSpPr/>
            <p:nvPr/>
          </p:nvSpPr>
          <p:spPr>
            <a:xfrm>
              <a:off x="7591" y="958788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1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1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solidFill>
              <a:srgbClr val="EAEAFF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" name="Graphic 90">
              <a:extLst>
                <a:ext uri="{FF2B5EF4-FFF2-40B4-BE49-F238E27FC236}">
                  <a16:creationId xmlns:a16="http://schemas.microsoft.com/office/drawing/2014/main" id="{0DC2C19C-9EDB-A519-B278-E00237654174}"/>
                </a:ext>
              </a:extLst>
            </p:cNvPr>
            <p:cNvSpPr/>
            <p:nvPr/>
          </p:nvSpPr>
          <p:spPr>
            <a:xfrm>
              <a:off x="7591" y="958788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1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1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ln w="15183">
              <a:solidFill>
                <a:srgbClr val="6666FF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" name="Graphic 91">
              <a:extLst>
                <a:ext uri="{FF2B5EF4-FFF2-40B4-BE49-F238E27FC236}">
                  <a16:creationId xmlns:a16="http://schemas.microsoft.com/office/drawing/2014/main" id="{BED6C1CB-AC7B-5B83-12D0-0DC33305E8F3}"/>
                </a:ext>
              </a:extLst>
            </p:cNvPr>
            <p:cNvSpPr/>
            <p:nvPr/>
          </p:nvSpPr>
          <p:spPr>
            <a:xfrm>
              <a:off x="7591" y="1909985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1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1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solidFill>
              <a:srgbClr val="EAEAFF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" name="Graphic 92">
              <a:extLst>
                <a:ext uri="{FF2B5EF4-FFF2-40B4-BE49-F238E27FC236}">
                  <a16:creationId xmlns:a16="http://schemas.microsoft.com/office/drawing/2014/main" id="{3D743FE6-BD2E-1A7B-B96D-9D182A1110A6}"/>
                </a:ext>
              </a:extLst>
            </p:cNvPr>
            <p:cNvSpPr/>
            <p:nvPr/>
          </p:nvSpPr>
          <p:spPr>
            <a:xfrm>
              <a:off x="7591" y="1909985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1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1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ln w="15183">
              <a:solidFill>
                <a:srgbClr val="6666FF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Graphic 93">
              <a:extLst>
                <a:ext uri="{FF2B5EF4-FFF2-40B4-BE49-F238E27FC236}">
                  <a16:creationId xmlns:a16="http://schemas.microsoft.com/office/drawing/2014/main" id="{B130F347-9659-E47D-C6FA-23E5888126CC}"/>
                </a:ext>
              </a:extLst>
            </p:cNvPr>
            <p:cNvSpPr/>
            <p:nvPr/>
          </p:nvSpPr>
          <p:spPr>
            <a:xfrm>
              <a:off x="7591" y="2861182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1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1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solidFill>
              <a:srgbClr val="EAEAFF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1" name="Graphic 94">
              <a:extLst>
                <a:ext uri="{FF2B5EF4-FFF2-40B4-BE49-F238E27FC236}">
                  <a16:creationId xmlns:a16="http://schemas.microsoft.com/office/drawing/2014/main" id="{65612F05-5428-3644-D08B-3ED2F34C19A6}"/>
                </a:ext>
              </a:extLst>
            </p:cNvPr>
            <p:cNvSpPr/>
            <p:nvPr/>
          </p:nvSpPr>
          <p:spPr>
            <a:xfrm>
              <a:off x="7591" y="2861182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1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1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ln w="15183">
              <a:solidFill>
                <a:srgbClr val="6666FF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2" name="Graphic 95">
              <a:extLst>
                <a:ext uri="{FF2B5EF4-FFF2-40B4-BE49-F238E27FC236}">
                  <a16:creationId xmlns:a16="http://schemas.microsoft.com/office/drawing/2014/main" id="{A88A0808-E2A9-56DD-CDA5-0EF524B0E4BC}"/>
                </a:ext>
              </a:extLst>
            </p:cNvPr>
            <p:cNvSpPr/>
            <p:nvPr/>
          </p:nvSpPr>
          <p:spPr>
            <a:xfrm>
              <a:off x="7591" y="3812379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1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1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solidFill>
              <a:srgbClr val="EAEAFF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3" name="Graphic 96">
              <a:extLst>
                <a:ext uri="{FF2B5EF4-FFF2-40B4-BE49-F238E27FC236}">
                  <a16:creationId xmlns:a16="http://schemas.microsoft.com/office/drawing/2014/main" id="{EB3E0578-9E01-F6F0-7DDE-E198350FE3EA}"/>
                </a:ext>
              </a:extLst>
            </p:cNvPr>
            <p:cNvSpPr/>
            <p:nvPr/>
          </p:nvSpPr>
          <p:spPr>
            <a:xfrm>
              <a:off x="7591" y="3812379"/>
              <a:ext cx="2376170" cy="288290"/>
            </a:xfrm>
            <a:custGeom>
              <a:avLst/>
              <a:gdLst/>
              <a:ahLst/>
              <a:cxnLst/>
              <a:rect l="l" t="t" r="r" b="b"/>
              <a:pathLst>
                <a:path w="2376170" h="288290">
                  <a:moveTo>
                    <a:pt x="23254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7393"/>
                  </a:lnTo>
                  <a:lnTo>
                    <a:pt x="3977" y="257093"/>
                  </a:lnTo>
                  <a:lnTo>
                    <a:pt x="14823" y="273181"/>
                  </a:lnTo>
                  <a:lnTo>
                    <a:pt x="30910" y="284027"/>
                  </a:lnTo>
                  <a:lnTo>
                    <a:pt x="50610" y="288004"/>
                  </a:lnTo>
                  <a:lnTo>
                    <a:pt x="2325421" y="288004"/>
                  </a:lnTo>
                  <a:lnTo>
                    <a:pt x="2345121" y="284027"/>
                  </a:lnTo>
                  <a:lnTo>
                    <a:pt x="2361209" y="273181"/>
                  </a:lnTo>
                  <a:lnTo>
                    <a:pt x="2372055" y="257093"/>
                  </a:lnTo>
                  <a:lnTo>
                    <a:pt x="2376032" y="237393"/>
                  </a:lnTo>
                  <a:lnTo>
                    <a:pt x="2376032" y="50610"/>
                  </a:lnTo>
                  <a:lnTo>
                    <a:pt x="2372055" y="30910"/>
                  </a:lnTo>
                  <a:lnTo>
                    <a:pt x="2361209" y="14823"/>
                  </a:lnTo>
                  <a:lnTo>
                    <a:pt x="2345121" y="3977"/>
                  </a:lnTo>
                  <a:lnTo>
                    <a:pt x="2325421" y="0"/>
                  </a:lnTo>
                  <a:close/>
                </a:path>
              </a:pathLst>
            </a:custGeom>
            <a:ln w="15183">
              <a:solidFill>
                <a:srgbClr val="6666FF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4" name="Graphic 97">
              <a:extLst>
                <a:ext uri="{FF2B5EF4-FFF2-40B4-BE49-F238E27FC236}">
                  <a16:creationId xmlns:a16="http://schemas.microsoft.com/office/drawing/2014/main" id="{26E94808-AFC0-372F-DB14-058A3A0C5C05}"/>
                </a:ext>
              </a:extLst>
            </p:cNvPr>
            <p:cNvSpPr/>
            <p:nvPr/>
          </p:nvSpPr>
          <p:spPr>
            <a:xfrm>
              <a:off x="1195607" y="303187"/>
              <a:ext cx="1270" cy="596265"/>
            </a:xfrm>
            <a:custGeom>
              <a:avLst/>
              <a:gdLst/>
              <a:ahLst/>
              <a:cxnLst/>
              <a:rect l="l" t="t" r="r" b="b"/>
              <a:pathLst>
                <a:path h="596265">
                  <a:moveTo>
                    <a:pt x="0" y="0"/>
                  </a:moveTo>
                  <a:lnTo>
                    <a:pt x="0" y="595807"/>
                  </a:lnTo>
                </a:path>
              </a:pathLst>
            </a:custGeom>
            <a:ln w="10122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5" name="Graphic 98">
              <a:extLst>
                <a:ext uri="{FF2B5EF4-FFF2-40B4-BE49-F238E27FC236}">
                  <a16:creationId xmlns:a16="http://schemas.microsoft.com/office/drawing/2014/main" id="{8F7CFBEB-4C8F-930C-553E-61502979E4E5}"/>
                </a:ext>
              </a:extLst>
            </p:cNvPr>
            <p:cNvSpPr/>
            <p:nvPr/>
          </p:nvSpPr>
          <p:spPr>
            <a:xfrm>
              <a:off x="1175661" y="884033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893" y="0"/>
                  </a:moveTo>
                  <a:lnTo>
                    <a:pt x="19946" y="17492"/>
                  </a:lnTo>
                  <a:lnTo>
                    <a:pt x="0" y="0"/>
                  </a:lnTo>
                  <a:lnTo>
                    <a:pt x="19946" y="52749"/>
                  </a:lnTo>
                  <a:lnTo>
                    <a:pt x="39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6" name="Graphic 99">
              <a:extLst>
                <a:ext uri="{FF2B5EF4-FFF2-40B4-BE49-F238E27FC236}">
                  <a16:creationId xmlns:a16="http://schemas.microsoft.com/office/drawing/2014/main" id="{8A4B824B-3BDA-9F62-B0A1-6D3504E2357A}"/>
                </a:ext>
              </a:extLst>
            </p:cNvPr>
            <p:cNvSpPr/>
            <p:nvPr/>
          </p:nvSpPr>
          <p:spPr>
            <a:xfrm>
              <a:off x="1175661" y="884033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46" y="52749"/>
                  </a:moveTo>
                  <a:lnTo>
                    <a:pt x="39893" y="0"/>
                  </a:lnTo>
                  <a:lnTo>
                    <a:pt x="19946" y="17492"/>
                  </a:lnTo>
                  <a:lnTo>
                    <a:pt x="0" y="0"/>
                  </a:lnTo>
                  <a:lnTo>
                    <a:pt x="19946" y="5274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7" name="Graphic 100">
              <a:extLst>
                <a:ext uri="{FF2B5EF4-FFF2-40B4-BE49-F238E27FC236}">
                  <a16:creationId xmlns:a16="http://schemas.microsoft.com/office/drawing/2014/main" id="{EEAC91C4-E9C8-5A95-BDB0-7F68E9A0D883}"/>
                </a:ext>
              </a:extLst>
            </p:cNvPr>
            <p:cNvSpPr/>
            <p:nvPr/>
          </p:nvSpPr>
          <p:spPr>
            <a:xfrm>
              <a:off x="1195607" y="1254384"/>
              <a:ext cx="1270" cy="596265"/>
            </a:xfrm>
            <a:custGeom>
              <a:avLst/>
              <a:gdLst/>
              <a:ahLst/>
              <a:cxnLst/>
              <a:rect l="l" t="t" r="r" b="b"/>
              <a:pathLst>
                <a:path h="596265">
                  <a:moveTo>
                    <a:pt x="0" y="0"/>
                  </a:moveTo>
                  <a:lnTo>
                    <a:pt x="0" y="595807"/>
                  </a:lnTo>
                </a:path>
              </a:pathLst>
            </a:custGeom>
            <a:ln w="10122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8" name="Graphic 101">
              <a:extLst>
                <a:ext uri="{FF2B5EF4-FFF2-40B4-BE49-F238E27FC236}">
                  <a16:creationId xmlns:a16="http://schemas.microsoft.com/office/drawing/2014/main" id="{E9AAEBE7-6168-41E4-BB6D-CB739984865C}"/>
                </a:ext>
              </a:extLst>
            </p:cNvPr>
            <p:cNvSpPr/>
            <p:nvPr/>
          </p:nvSpPr>
          <p:spPr>
            <a:xfrm>
              <a:off x="1175661" y="1835230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893" y="0"/>
                  </a:moveTo>
                  <a:lnTo>
                    <a:pt x="19946" y="17492"/>
                  </a:lnTo>
                  <a:lnTo>
                    <a:pt x="0" y="0"/>
                  </a:lnTo>
                  <a:lnTo>
                    <a:pt x="19946" y="52749"/>
                  </a:lnTo>
                  <a:lnTo>
                    <a:pt x="39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9" name="Graphic 102">
              <a:extLst>
                <a:ext uri="{FF2B5EF4-FFF2-40B4-BE49-F238E27FC236}">
                  <a16:creationId xmlns:a16="http://schemas.microsoft.com/office/drawing/2014/main" id="{5107256D-CCEE-D6CE-EA12-83EB335A52FD}"/>
                </a:ext>
              </a:extLst>
            </p:cNvPr>
            <p:cNvSpPr/>
            <p:nvPr/>
          </p:nvSpPr>
          <p:spPr>
            <a:xfrm>
              <a:off x="1175661" y="1835230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46" y="52749"/>
                  </a:moveTo>
                  <a:lnTo>
                    <a:pt x="39893" y="0"/>
                  </a:lnTo>
                  <a:lnTo>
                    <a:pt x="19946" y="17492"/>
                  </a:lnTo>
                  <a:lnTo>
                    <a:pt x="0" y="0"/>
                  </a:lnTo>
                  <a:lnTo>
                    <a:pt x="19946" y="5274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0" name="Graphic 103">
              <a:extLst>
                <a:ext uri="{FF2B5EF4-FFF2-40B4-BE49-F238E27FC236}">
                  <a16:creationId xmlns:a16="http://schemas.microsoft.com/office/drawing/2014/main" id="{C7C817F3-2467-CD71-1D7B-5DDED4FA13F7}"/>
                </a:ext>
              </a:extLst>
            </p:cNvPr>
            <p:cNvSpPr/>
            <p:nvPr/>
          </p:nvSpPr>
          <p:spPr>
            <a:xfrm>
              <a:off x="1195607" y="2205581"/>
              <a:ext cx="1270" cy="596265"/>
            </a:xfrm>
            <a:custGeom>
              <a:avLst/>
              <a:gdLst/>
              <a:ahLst/>
              <a:cxnLst/>
              <a:rect l="l" t="t" r="r" b="b"/>
              <a:pathLst>
                <a:path h="596265">
                  <a:moveTo>
                    <a:pt x="0" y="0"/>
                  </a:moveTo>
                  <a:lnTo>
                    <a:pt x="0" y="595807"/>
                  </a:lnTo>
                </a:path>
              </a:pathLst>
            </a:custGeom>
            <a:ln w="10122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1" name="Graphic 104">
              <a:extLst>
                <a:ext uri="{FF2B5EF4-FFF2-40B4-BE49-F238E27FC236}">
                  <a16:creationId xmlns:a16="http://schemas.microsoft.com/office/drawing/2014/main" id="{22D0EB78-6371-9C20-BED4-4B4034CB18C5}"/>
                </a:ext>
              </a:extLst>
            </p:cNvPr>
            <p:cNvSpPr/>
            <p:nvPr/>
          </p:nvSpPr>
          <p:spPr>
            <a:xfrm>
              <a:off x="1175661" y="2786427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893" y="0"/>
                  </a:moveTo>
                  <a:lnTo>
                    <a:pt x="19946" y="17492"/>
                  </a:lnTo>
                  <a:lnTo>
                    <a:pt x="0" y="0"/>
                  </a:lnTo>
                  <a:lnTo>
                    <a:pt x="19946" y="52749"/>
                  </a:lnTo>
                  <a:lnTo>
                    <a:pt x="39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2" name="Graphic 105">
              <a:extLst>
                <a:ext uri="{FF2B5EF4-FFF2-40B4-BE49-F238E27FC236}">
                  <a16:creationId xmlns:a16="http://schemas.microsoft.com/office/drawing/2014/main" id="{242C72DE-AFB9-6D8A-CB3A-C068EC401F3E}"/>
                </a:ext>
              </a:extLst>
            </p:cNvPr>
            <p:cNvSpPr/>
            <p:nvPr/>
          </p:nvSpPr>
          <p:spPr>
            <a:xfrm>
              <a:off x="1175661" y="2786427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46" y="52749"/>
                  </a:moveTo>
                  <a:lnTo>
                    <a:pt x="39893" y="0"/>
                  </a:lnTo>
                  <a:lnTo>
                    <a:pt x="19946" y="17492"/>
                  </a:lnTo>
                  <a:lnTo>
                    <a:pt x="0" y="0"/>
                  </a:lnTo>
                  <a:lnTo>
                    <a:pt x="19946" y="5274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3" name="Graphic 106">
              <a:extLst>
                <a:ext uri="{FF2B5EF4-FFF2-40B4-BE49-F238E27FC236}">
                  <a16:creationId xmlns:a16="http://schemas.microsoft.com/office/drawing/2014/main" id="{01E84F12-01AD-0441-B198-27755C503FA7}"/>
                </a:ext>
              </a:extLst>
            </p:cNvPr>
            <p:cNvSpPr/>
            <p:nvPr/>
          </p:nvSpPr>
          <p:spPr>
            <a:xfrm>
              <a:off x="1195607" y="3156778"/>
              <a:ext cx="1270" cy="596265"/>
            </a:xfrm>
            <a:custGeom>
              <a:avLst/>
              <a:gdLst/>
              <a:ahLst/>
              <a:cxnLst/>
              <a:rect l="l" t="t" r="r" b="b"/>
              <a:pathLst>
                <a:path h="596265">
                  <a:moveTo>
                    <a:pt x="0" y="0"/>
                  </a:moveTo>
                  <a:lnTo>
                    <a:pt x="0" y="595807"/>
                  </a:lnTo>
                </a:path>
              </a:pathLst>
            </a:custGeom>
            <a:ln w="10122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4" name="Graphic 107">
              <a:extLst>
                <a:ext uri="{FF2B5EF4-FFF2-40B4-BE49-F238E27FC236}">
                  <a16:creationId xmlns:a16="http://schemas.microsoft.com/office/drawing/2014/main" id="{506144FB-3DAD-DC63-1748-9BBEA2359BB6}"/>
                </a:ext>
              </a:extLst>
            </p:cNvPr>
            <p:cNvSpPr/>
            <p:nvPr/>
          </p:nvSpPr>
          <p:spPr>
            <a:xfrm>
              <a:off x="1175661" y="3737624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893" y="0"/>
                  </a:moveTo>
                  <a:lnTo>
                    <a:pt x="19946" y="17492"/>
                  </a:lnTo>
                  <a:lnTo>
                    <a:pt x="0" y="0"/>
                  </a:lnTo>
                  <a:lnTo>
                    <a:pt x="19946" y="52749"/>
                  </a:lnTo>
                  <a:lnTo>
                    <a:pt x="39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5" name="Graphic 108">
              <a:extLst>
                <a:ext uri="{FF2B5EF4-FFF2-40B4-BE49-F238E27FC236}">
                  <a16:creationId xmlns:a16="http://schemas.microsoft.com/office/drawing/2014/main" id="{549DFDCA-0D74-6D6A-A3C1-B4744B3C83E8}"/>
                </a:ext>
              </a:extLst>
            </p:cNvPr>
            <p:cNvSpPr/>
            <p:nvPr/>
          </p:nvSpPr>
          <p:spPr>
            <a:xfrm>
              <a:off x="1175661" y="3737624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46" y="52749"/>
                  </a:moveTo>
                  <a:lnTo>
                    <a:pt x="39893" y="0"/>
                  </a:lnTo>
                  <a:lnTo>
                    <a:pt x="19946" y="17492"/>
                  </a:lnTo>
                  <a:lnTo>
                    <a:pt x="0" y="0"/>
                  </a:lnTo>
                  <a:lnTo>
                    <a:pt x="19946" y="5274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6" name="Textbox 109">
              <a:extLst>
                <a:ext uri="{FF2B5EF4-FFF2-40B4-BE49-F238E27FC236}">
                  <a16:creationId xmlns:a16="http://schemas.microsoft.com/office/drawing/2014/main" id="{B66E5B8A-F24A-FF80-54F8-944E77B3DCF6}"/>
                </a:ext>
              </a:extLst>
            </p:cNvPr>
            <p:cNvSpPr txBox="1"/>
            <p:nvPr/>
          </p:nvSpPr>
          <p:spPr>
            <a:xfrm>
              <a:off x="547298" y="1032816"/>
              <a:ext cx="1309370" cy="12255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910"/>
                </a:lnSpc>
                <a:buNone/>
              </a:pP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Preprocessing</a:t>
              </a:r>
              <a:r>
                <a:rPr lang="en-US" sz="800" spc="4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&amp;</a:t>
              </a:r>
              <a:r>
                <a:rPr lang="en-US" sz="800" spc="5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 spc="-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Augmentation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Textbox 110">
              <a:extLst>
                <a:ext uri="{FF2B5EF4-FFF2-40B4-BE49-F238E27FC236}">
                  <a16:creationId xmlns:a16="http://schemas.microsoft.com/office/drawing/2014/main" id="{69419A48-4502-ED59-94A6-CE54134D8310}"/>
                </a:ext>
              </a:extLst>
            </p:cNvPr>
            <p:cNvSpPr txBox="1"/>
            <p:nvPr/>
          </p:nvSpPr>
          <p:spPr>
            <a:xfrm>
              <a:off x="17171" y="2872389"/>
              <a:ext cx="2357120" cy="2660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740410">
                <a:spcBef>
                  <a:spcPts val="565"/>
                </a:spcBef>
                <a:buNone/>
              </a:pP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Validation</a:t>
              </a:r>
              <a:r>
                <a:rPr lang="en-US" sz="800" spc="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&amp;</a:t>
              </a:r>
              <a:r>
                <a:rPr lang="en-US" sz="800" spc="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 spc="-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Metrics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" name="Textbox 111">
              <a:extLst>
                <a:ext uri="{FF2B5EF4-FFF2-40B4-BE49-F238E27FC236}">
                  <a16:creationId xmlns:a16="http://schemas.microsoft.com/office/drawing/2014/main" id="{E0366794-2066-29C1-CAD0-45CD7FF006A1}"/>
                </a:ext>
              </a:extLst>
            </p:cNvPr>
            <p:cNvSpPr txBox="1"/>
            <p:nvPr/>
          </p:nvSpPr>
          <p:spPr>
            <a:xfrm>
              <a:off x="17171" y="18799"/>
              <a:ext cx="2357120" cy="2660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520700">
                <a:spcBef>
                  <a:spcPts val="485"/>
                </a:spcBef>
                <a:buNone/>
              </a:pP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Dataset</a:t>
              </a:r>
              <a:r>
                <a:rPr lang="en-US" sz="800" spc="5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Acquisition</a:t>
              </a:r>
              <a:r>
                <a:rPr lang="en-US" sz="800" spc="5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&amp;</a:t>
              </a:r>
              <a:r>
                <a:rPr lang="en-US" sz="800" spc="5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 spc="-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Curation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" name="Textbox 112">
              <a:extLst>
                <a:ext uri="{FF2B5EF4-FFF2-40B4-BE49-F238E27FC236}">
                  <a16:creationId xmlns:a16="http://schemas.microsoft.com/office/drawing/2014/main" id="{558E79B1-B023-D884-95C0-8F196D7C8CFA}"/>
                </a:ext>
              </a:extLst>
            </p:cNvPr>
            <p:cNvSpPr txBox="1"/>
            <p:nvPr/>
          </p:nvSpPr>
          <p:spPr>
            <a:xfrm>
              <a:off x="17171" y="3823586"/>
              <a:ext cx="2357120" cy="2660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662305">
                <a:spcBef>
                  <a:spcPts val="480"/>
                </a:spcBef>
                <a:buNone/>
              </a:pP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Inference</a:t>
              </a:r>
              <a:r>
                <a:rPr lang="en-US" sz="800" spc="5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&amp;</a:t>
              </a:r>
              <a:r>
                <a:rPr lang="en-US" sz="800" spc="5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 spc="-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Deployment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Textbox 113">
              <a:extLst>
                <a:ext uri="{FF2B5EF4-FFF2-40B4-BE49-F238E27FC236}">
                  <a16:creationId xmlns:a16="http://schemas.microsoft.com/office/drawing/2014/main" id="{E75E4E2E-13C9-2478-ED4F-12B2A99351F1}"/>
                </a:ext>
              </a:extLst>
            </p:cNvPr>
            <p:cNvSpPr txBox="1"/>
            <p:nvPr/>
          </p:nvSpPr>
          <p:spPr>
            <a:xfrm>
              <a:off x="17171" y="1921192"/>
              <a:ext cx="2357120" cy="2660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6995">
                <a:spcBef>
                  <a:spcPts val="485"/>
                </a:spcBef>
                <a:buNone/>
              </a:pP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Model</a:t>
              </a:r>
              <a:r>
                <a:rPr lang="en-US" sz="800" spc="3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Training</a:t>
              </a:r>
              <a:r>
                <a:rPr lang="en-US" sz="800" spc="4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(ResNet</a:t>
              </a:r>
              <a:r>
                <a:rPr lang="en-US" sz="800" spc="4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/</a:t>
              </a:r>
              <a:r>
                <a:rPr lang="en-US" sz="800" spc="4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YOLOv8</a:t>
              </a:r>
              <a:r>
                <a:rPr lang="en-US" sz="800" spc="3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/</a:t>
              </a:r>
              <a:r>
                <a:rPr lang="en-US" sz="800" spc="4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EffNet-U-</a:t>
              </a:r>
              <a:r>
                <a:rPr lang="en-US" sz="800" spc="-2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Net)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EA7FF3-982C-4536-5EA4-906C1ECCF6AD}"/>
              </a:ext>
            </a:extLst>
          </p:cNvPr>
          <p:cNvGrpSpPr>
            <a:grpSpLocks/>
          </p:cNvGrpSpPr>
          <p:nvPr/>
        </p:nvGrpSpPr>
        <p:grpSpPr>
          <a:xfrm>
            <a:off x="6893424" y="1201985"/>
            <a:ext cx="3798875" cy="4454029"/>
            <a:chOff x="5064" y="5064"/>
            <a:chExt cx="3108863" cy="3793206"/>
          </a:xfrm>
        </p:grpSpPr>
        <p:sp>
          <p:nvSpPr>
            <p:cNvPr id="32" name="Graphic 5">
              <a:extLst>
                <a:ext uri="{FF2B5EF4-FFF2-40B4-BE49-F238E27FC236}">
                  <a16:creationId xmlns:a16="http://schemas.microsoft.com/office/drawing/2014/main" id="{6B1AB227-E53A-0DAD-03FE-D93A8B900B9C}"/>
                </a:ext>
              </a:extLst>
            </p:cNvPr>
            <p:cNvSpPr/>
            <p:nvPr/>
          </p:nvSpPr>
          <p:spPr>
            <a:xfrm>
              <a:off x="5064" y="5064"/>
              <a:ext cx="1045210" cy="260985"/>
            </a:xfrm>
            <a:custGeom>
              <a:avLst/>
              <a:gdLst/>
              <a:ahLst/>
              <a:cxnLst/>
              <a:rect l="l" t="t" r="r" b="b"/>
              <a:pathLst>
                <a:path w="1045210" h="260985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9990"/>
                  </a:lnTo>
                  <a:lnTo>
                    <a:pt x="3980" y="229704"/>
                  </a:lnTo>
                  <a:lnTo>
                    <a:pt x="14834" y="245803"/>
                  </a:lnTo>
                  <a:lnTo>
                    <a:pt x="30933" y="256658"/>
                  </a:lnTo>
                  <a:lnTo>
                    <a:pt x="50647" y="260638"/>
                  </a:lnTo>
                  <a:lnTo>
                    <a:pt x="994125" y="260638"/>
                  </a:lnTo>
                  <a:lnTo>
                    <a:pt x="1013840" y="256658"/>
                  </a:lnTo>
                  <a:lnTo>
                    <a:pt x="1029938" y="245803"/>
                  </a:lnTo>
                  <a:lnTo>
                    <a:pt x="1040793" y="229704"/>
                  </a:lnTo>
                  <a:lnTo>
                    <a:pt x="1044773" y="209990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3" name="Graphic 6">
              <a:extLst>
                <a:ext uri="{FF2B5EF4-FFF2-40B4-BE49-F238E27FC236}">
                  <a16:creationId xmlns:a16="http://schemas.microsoft.com/office/drawing/2014/main" id="{D3FCEEB3-6743-2360-AEE8-95AACFB04696}"/>
                </a:ext>
              </a:extLst>
            </p:cNvPr>
            <p:cNvSpPr/>
            <p:nvPr/>
          </p:nvSpPr>
          <p:spPr>
            <a:xfrm>
              <a:off x="5064" y="5064"/>
              <a:ext cx="1045210" cy="260985"/>
            </a:xfrm>
            <a:custGeom>
              <a:avLst/>
              <a:gdLst/>
              <a:ahLst/>
              <a:cxnLst/>
              <a:rect l="l" t="t" r="r" b="b"/>
              <a:pathLst>
                <a:path w="1045210" h="260985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9990"/>
                  </a:lnTo>
                  <a:lnTo>
                    <a:pt x="3980" y="229704"/>
                  </a:lnTo>
                  <a:lnTo>
                    <a:pt x="14834" y="245803"/>
                  </a:lnTo>
                  <a:lnTo>
                    <a:pt x="30933" y="256658"/>
                  </a:lnTo>
                  <a:lnTo>
                    <a:pt x="50647" y="260638"/>
                  </a:lnTo>
                  <a:lnTo>
                    <a:pt x="994125" y="260638"/>
                  </a:lnTo>
                  <a:lnTo>
                    <a:pt x="1013840" y="256658"/>
                  </a:lnTo>
                  <a:lnTo>
                    <a:pt x="1029938" y="245803"/>
                  </a:lnTo>
                  <a:lnTo>
                    <a:pt x="1040793" y="229704"/>
                  </a:lnTo>
                  <a:lnTo>
                    <a:pt x="1044773" y="209990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44C8F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4" name="Graphic 7">
              <a:extLst>
                <a:ext uri="{FF2B5EF4-FFF2-40B4-BE49-F238E27FC236}">
                  <a16:creationId xmlns:a16="http://schemas.microsoft.com/office/drawing/2014/main" id="{7EB49866-A16F-9983-85C4-F4D257B307E6}"/>
                </a:ext>
              </a:extLst>
            </p:cNvPr>
            <p:cNvSpPr/>
            <p:nvPr/>
          </p:nvSpPr>
          <p:spPr>
            <a:xfrm>
              <a:off x="5064" y="600070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5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5" name="Graphic 8">
              <a:extLst>
                <a:ext uri="{FF2B5EF4-FFF2-40B4-BE49-F238E27FC236}">
                  <a16:creationId xmlns:a16="http://schemas.microsoft.com/office/drawing/2014/main" id="{54058498-A1B5-303A-7E43-C8FA60FC3E08}"/>
                </a:ext>
              </a:extLst>
            </p:cNvPr>
            <p:cNvSpPr/>
            <p:nvPr/>
          </p:nvSpPr>
          <p:spPr>
            <a:xfrm>
              <a:off x="5064" y="600070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5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44C8F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6" name="Graphic 9">
              <a:extLst>
                <a:ext uri="{FF2B5EF4-FFF2-40B4-BE49-F238E27FC236}">
                  <a16:creationId xmlns:a16="http://schemas.microsoft.com/office/drawing/2014/main" id="{C507FA25-A333-C8B8-3A37-3A13C3427441}"/>
                </a:ext>
              </a:extLst>
            </p:cNvPr>
            <p:cNvSpPr/>
            <p:nvPr/>
          </p:nvSpPr>
          <p:spPr>
            <a:xfrm>
              <a:off x="5064" y="1186624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5"/>
                  </a:lnTo>
                  <a:lnTo>
                    <a:pt x="994125" y="252185"/>
                  </a:lnTo>
                  <a:lnTo>
                    <a:pt x="1013840" y="248205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7" name="Graphic 10">
              <a:extLst>
                <a:ext uri="{FF2B5EF4-FFF2-40B4-BE49-F238E27FC236}">
                  <a16:creationId xmlns:a16="http://schemas.microsoft.com/office/drawing/2014/main" id="{659F2C02-5CA2-23C0-DB93-2A3B68E01215}"/>
                </a:ext>
              </a:extLst>
            </p:cNvPr>
            <p:cNvSpPr/>
            <p:nvPr/>
          </p:nvSpPr>
          <p:spPr>
            <a:xfrm>
              <a:off x="5064" y="1186624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5"/>
                  </a:lnTo>
                  <a:lnTo>
                    <a:pt x="994125" y="252185"/>
                  </a:lnTo>
                  <a:lnTo>
                    <a:pt x="1013840" y="248205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44C8F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8" name="Graphic 11">
              <a:extLst>
                <a:ext uri="{FF2B5EF4-FFF2-40B4-BE49-F238E27FC236}">
                  <a16:creationId xmlns:a16="http://schemas.microsoft.com/office/drawing/2014/main" id="{B55B12F1-A515-8F12-497B-CD0F75168E9C}"/>
                </a:ext>
              </a:extLst>
            </p:cNvPr>
            <p:cNvSpPr/>
            <p:nvPr/>
          </p:nvSpPr>
          <p:spPr>
            <a:xfrm>
              <a:off x="5064" y="1773178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5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9" name="Graphic 12">
              <a:extLst>
                <a:ext uri="{FF2B5EF4-FFF2-40B4-BE49-F238E27FC236}">
                  <a16:creationId xmlns:a16="http://schemas.microsoft.com/office/drawing/2014/main" id="{5F185232-56D8-CB7B-EBF1-9E559C5694D3}"/>
                </a:ext>
              </a:extLst>
            </p:cNvPr>
            <p:cNvSpPr/>
            <p:nvPr/>
          </p:nvSpPr>
          <p:spPr>
            <a:xfrm>
              <a:off x="5064" y="1773178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5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44C8F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0" name="Graphic 13">
              <a:extLst>
                <a:ext uri="{FF2B5EF4-FFF2-40B4-BE49-F238E27FC236}">
                  <a16:creationId xmlns:a16="http://schemas.microsoft.com/office/drawing/2014/main" id="{D2303149-CA92-AA6A-F93C-F41E97E6992E}"/>
                </a:ext>
              </a:extLst>
            </p:cNvPr>
            <p:cNvSpPr/>
            <p:nvPr/>
          </p:nvSpPr>
          <p:spPr>
            <a:xfrm>
              <a:off x="5064" y="2359732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1" name="Graphic 14">
              <a:extLst>
                <a:ext uri="{FF2B5EF4-FFF2-40B4-BE49-F238E27FC236}">
                  <a16:creationId xmlns:a16="http://schemas.microsoft.com/office/drawing/2014/main" id="{3BBB5346-719E-E24B-4102-11C7DA1D427D}"/>
                </a:ext>
              </a:extLst>
            </p:cNvPr>
            <p:cNvSpPr/>
            <p:nvPr/>
          </p:nvSpPr>
          <p:spPr>
            <a:xfrm>
              <a:off x="5064" y="2359732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44C8F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2" name="Graphic 15">
              <a:extLst>
                <a:ext uri="{FF2B5EF4-FFF2-40B4-BE49-F238E27FC236}">
                  <a16:creationId xmlns:a16="http://schemas.microsoft.com/office/drawing/2014/main" id="{1B9E111C-0D9D-4724-6159-159399FA0F2F}"/>
                </a:ext>
              </a:extLst>
            </p:cNvPr>
            <p:cNvSpPr/>
            <p:nvPr/>
          </p:nvSpPr>
          <p:spPr>
            <a:xfrm>
              <a:off x="5064" y="2946286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3" name="Graphic 16">
              <a:extLst>
                <a:ext uri="{FF2B5EF4-FFF2-40B4-BE49-F238E27FC236}">
                  <a16:creationId xmlns:a16="http://schemas.microsoft.com/office/drawing/2014/main" id="{4C33BC09-6C2B-3A33-4131-EBE685B40343}"/>
                </a:ext>
              </a:extLst>
            </p:cNvPr>
            <p:cNvSpPr/>
            <p:nvPr/>
          </p:nvSpPr>
          <p:spPr>
            <a:xfrm>
              <a:off x="5064" y="2946286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8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44C8F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4" name="Graphic 17">
              <a:extLst>
                <a:ext uri="{FF2B5EF4-FFF2-40B4-BE49-F238E27FC236}">
                  <a16:creationId xmlns:a16="http://schemas.microsoft.com/office/drawing/2014/main" id="{AFED684D-B818-9DFA-D942-305BB6584080}"/>
                </a:ext>
              </a:extLst>
            </p:cNvPr>
            <p:cNvSpPr/>
            <p:nvPr/>
          </p:nvSpPr>
          <p:spPr>
            <a:xfrm>
              <a:off x="5064" y="3532840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3"/>
                  </a:lnTo>
                  <a:lnTo>
                    <a:pt x="14834" y="237352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8" y="237352"/>
                  </a:lnTo>
                  <a:lnTo>
                    <a:pt x="1040793" y="221253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5" name="Graphic 18">
              <a:extLst>
                <a:ext uri="{FF2B5EF4-FFF2-40B4-BE49-F238E27FC236}">
                  <a16:creationId xmlns:a16="http://schemas.microsoft.com/office/drawing/2014/main" id="{E286D563-FB3F-E983-4241-8A3A0B13086C}"/>
                </a:ext>
              </a:extLst>
            </p:cNvPr>
            <p:cNvSpPr/>
            <p:nvPr/>
          </p:nvSpPr>
          <p:spPr>
            <a:xfrm>
              <a:off x="5064" y="3532840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3"/>
                  </a:lnTo>
                  <a:lnTo>
                    <a:pt x="14834" y="237352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8" y="237352"/>
                  </a:lnTo>
                  <a:lnTo>
                    <a:pt x="1040793" y="221253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8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44C8F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6" name="Graphic 19">
              <a:extLst>
                <a:ext uri="{FF2B5EF4-FFF2-40B4-BE49-F238E27FC236}">
                  <a16:creationId xmlns:a16="http://schemas.microsoft.com/office/drawing/2014/main" id="{D84E4CAA-52B8-14CC-EFB3-497EC9AEDBE3}"/>
                </a:ext>
              </a:extLst>
            </p:cNvPr>
            <p:cNvSpPr/>
            <p:nvPr/>
          </p:nvSpPr>
          <p:spPr>
            <a:xfrm>
              <a:off x="2068717" y="1186624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5"/>
                  </a:lnTo>
                  <a:lnTo>
                    <a:pt x="994125" y="252185"/>
                  </a:lnTo>
                  <a:lnTo>
                    <a:pt x="1013840" y="248205"/>
                  </a:lnTo>
                  <a:lnTo>
                    <a:pt x="1029939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FFF4EA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" name="Graphic 20">
              <a:extLst>
                <a:ext uri="{FF2B5EF4-FFF2-40B4-BE49-F238E27FC236}">
                  <a16:creationId xmlns:a16="http://schemas.microsoft.com/office/drawing/2014/main" id="{BA35E622-19D9-A8D4-8C5A-0F5F628F684D}"/>
                </a:ext>
              </a:extLst>
            </p:cNvPr>
            <p:cNvSpPr/>
            <p:nvPr/>
          </p:nvSpPr>
          <p:spPr>
            <a:xfrm>
              <a:off x="2068717" y="1186624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5"/>
                  </a:lnTo>
                  <a:lnTo>
                    <a:pt x="994125" y="252185"/>
                  </a:lnTo>
                  <a:lnTo>
                    <a:pt x="1013840" y="248205"/>
                  </a:lnTo>
                  <a:lnTo>
                    <a:pt x="1029939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FFA5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8" name="Graphic 21">
              <a:extLst>
                <a:ext uri="{FF2B5EF4-FFF2-40B4-BE49-F238E27FC236}">
                  <a16:creationId xmlns:a16="http://schemas.microsoft.com/office/drawing/2014/main" id="{BC06C9C4-BDA2-4C63-0E88-4A67E21ABFE8}"/>
                </a:ext>
              </a:extLst>
            </p:cNvPr>
            <p:cNvSpPr/>
            <p:nvPr/>
          </p:nvSpPr>
          <p:spPr>
            <a:xfrm>
              <a:off x="2068717" y="1773178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5"/>
                  </a:lnTo>
                  <a:lnTo>
                    <a:pt x="1029939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FFF4EA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9" name="Graphic 22">
              <a:extLst>
                <a:ext uri="{FF2B5EF4-FFF2-40B4-BE49-F238E27FC236}">
                  <a16:creationId xmlns:a16="http://schemas.microsoft.com/office/drawing/2014/main" id="{E64EAF2B-DC49-18EC-BC31-31ACD49AB6B0}"/>
                </a:ext>
              </a:extLst>
            </p:cNvPr>
            <p:cNvSpPr/>
            <p:nvPr/>
          </p:nvSpPr>
          <p:spPr>
            <a:xfrm>
              <a:off x="2068717" y="1773178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5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5"/>
                  </a:lnTo>
                  <a:lnTo>
                    <a:pt x="1029939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FFA5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0" name="Graphic 23">
              <a:extLst>
                <a:ext uri="{FF2B5EF4-FFF2-40B4-BE49-F238E27FC236}">
                  <a16:creationId xmlns:a16="http://schemas.microsoft.com/office/drawing/2014/main" id="{2F3C6975-7842-87C8-81B0-1E25308161DD}"/>
                </a:ext>
              </a:extLst>
            </p:cNvPr>
            <p:cNvSpPr/>
            <p:nvPr/>
          </p:nvSpPr>
          <p:spPr>
            <a:xfrm>
              <a:off x="2068717" y="2359732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9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FFF4EA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1" name="Graphic 24">
              <a:extLst>
                <a:ext uri="{FF2B5EF4-FFF2-40B4-BE49-F238E27FC236}">
                  <a16:creationId xmlns:a16="http://schemas.microsoft.com/office/drawing/2014/main" id="{04A34331-89F4-E929-44D0-EE3C8EF9759B}"/>
                </a:ext>
              </a:extLst>
            </p:cNvPr>
            <p:cNvSpPr/>
            <p:nvPr/>
          </p:nvSpPr>
          <p:spPr>
            <a:xfrm>
              <a:off x="2068717" y="2359732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9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FFA5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2" name="Graphic 25">
              <a:extLst>
                <a:ext uri="{FF2B5EF4-FFF2-40B4-BE49-F238E27FC236}">
                  <a16:creationId xmlns:a16="http://schemas.microsoft.com/office/drawing/2014/main" id="{EC19B597-5AE6-94FE-5098-862237FD33C6}"/>
                </a:ext>
              </a:extLst>
            </p:cNvPr>
            <p:cNvSpPr/>
            <p:nvPr/>
          </p:nvSpPr>
          <p:spPr>
            <a:xfrm>
              <a:off x="2068717" y="2946286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9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FFF4EA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3" name="Graphic 26">
              <a:extLst>
                <a:ext uri="{FF2B5EF4-FFF2-40B4-BE49-F238E27FC236}">
                  <a16:creationId xmlns:a16="http://schemas.microsoft.com/office/drawing/2014/main" id="{1DF06545-E955-5A42-8B9C-22E961912576}"/>
                </a:ext>
              </a:extLst>
            </p:cNvPr>
            <p:cNvSpPr/>
            <p:nvPr/>
          </p:nvSpPr>
          <p:spPr>
            <a:xfrm>
              <a:off x="2068717" y="2946286"/>
              <a:ext cx="1045210" cy="252729"/>
            </a:xfrm>
            <a:custGeom>
              <a:avLst/>
              <a:gdLst/>
              <a:ahLst/>
              <a:cxnLst/>
              <a:rect l="l" t="t" r="r" b="b"/>
              <a:pathLst>
                <a:path w="1045210" h="252729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01538"/>
                  </a:lnTo>
                  <a:lnTo>
                    <a:pt x="3980" y="221252"/>
                  </a:lnTo>
                  <a:lnTo>
                    <a:pt x="14834" y="237351"/>
                  </a:lnTo>
                  <a:lnTo>
                    <a:pt x="30933" y="248206"/>
                  </a:lnTo>
                  <a:lnTo>
                    <a:pt x="50647" y="252186"/>
                  </a:lnTo>
                  <a:lnTo>
                    <a:pt x="994125" y="252186"/>
                  </a:lnTo>
                  <a:lnTo>
                    <a:pt x="1013840" y="248206"/>
                  </a:lnTo>
                  <a:lnTo>
                    <a:pt x="1029939" y="237351"/>
                  </a:lnTo>
                  <a:lnTo>
                    <a:pt x="1040793" y="221252"/>
                  </a:lnTo>
                  <a:lnTo>
                    <a:pt x="1044773" y="201538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FFA5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4" name="Graphic 27">
              <a:extLst>
                <a:ext uri="{FF2B5EF4-FFF2-40B4-BE49-F238E27FC236}">
                  <a16:creationId xmlns:a16="http://schemas.microsoft.com/office/drawing/2014/main" id="{96DD2D34-585C-D63D-BCBE-51B734FF0A20}"/>
                </a:ext>
              </a:extLst>
            </p:cNvPr>
            <p:cNvSpPr/>
            <p:nvPr/>
          </p:nvSpPr>
          <p:spPr>
            <a:xfrm>
              <a:off x="2068717" y="3532840"/>
              <a:ext cx="1045210" cy="265430"/>
            </a:xfrm>
            <a:custGeom>
              <a:avLst/>
              <a:gdLst/>
              <a:ahLst/>
              <a:cxnLst/>
              <a:rect l="l" t="t" r="r" b="b"/>
              <a:pathLst>
                <a:path w="1045210" h="265430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14687"/>
                  </a:lnTo>
                  <a:lnTo>
                    <a:pt x="3980" y="234401"/>
                  </a:lnTo>
                  <a:lnTo>
                    <a:pt x="14834" y="250500"/>
                  </a:lnTo>
                  <a:lnTo>
                    <a:pt x="30933" y="261354"/>
                  </a:lnTo>
                  <a:lnTo>
                    <a:pt x="50647" y="265335"/>
                  </a:lnTo>
                  <a:lnTo>
                    <a:pt x="994125" y="265335"/>
                  </a:lnTo>
                  <a:lnTo>
                    <a:pt x="1013840" y="261354"/>
                  </a:lnTo>
                  <a:lnTo>
                    <a:pt x="1029939" y="250500"/>
                  </a:lnTo>
                  <a:lnTo>
                    <a:pt x="1040793" y="234401"/>
                  </a:lnTo>
                  <a:lnTo>
                    <a:pt x="1044773" y="214687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solidFill>
              <a:srgbClr val="FFF4EA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5" name="Graphic 28">
              <a:extLst>
                <a:ext uri="{FF2B5EF4-FFF2-40B4-BE49-F238E27FC236}">
                  <a16:creationId xmlns:a16="http://schemas.microsoft.com/office/drawing/2014/main" id="{B2E97D38-6C23-0B77-5CF7-32477F0BF59A}"/>
                </a:ext>
              </a:extLst>
            </p:cNvPr>
            <p:cNvSpPr/>
            <p:nvPr/>
          </p:nvSpPr>
          <p:spPr>
            <a:xfrm>
              <a:off x="2068717" y="3532840"/>
              <a:ext cx="1045210" cy="265430"/>
            </a:xfrm>
            <a:custGeom>
              <a:avLst/>
              <a:gdLst/>
              <a:ahLst/>
              <a:cxnLst/>
              <a:rect l="l" t="t" r="r" b="b"/>
              <a:pathLst>
                <a:path w="1045210" h="265430">
                  <a:moveTo>
                    <a:pt x="994125" y="0"/>
                  </a:moveTo>
                  <a:lnTo>
                    <a:pt x="50647" y="0"/>
                  </a:lnTo>
                  <a:lnTo>
                    <a:pt x="30933" y="3980"/>
                  </a:lnTo>
                  <a:lnTo>
                    <a:pt x="14834" y="14834"/>
                  </a:lnTo>
                  <a:lnTo>
                    <a:pt x="3980" y="30933"/>
                  </a:lnTo>
                  <a:lnTo>
                    <a:pt x="0" y="50647"/>
                  </a:lnTo>
                  <a:lnTo>
                    <a:pt x="0" y="214687"/>
                  </a:lnTo>
                  <a:lnTo>
                    <a:pt x="3980" y="234401"/>
                  </a:lnTo>
                  <a:lnTo>
                    <a:pt x="14834" y="250500"/>
                  </a:lnTo>
                  <a:lnTo>
                    <a:pt x="30933" y="261354"/>
                  </a:lnTo>
                  <a:lnTo>
                    <a:pt x="50647" y="265335"/>
                  </a:lnTo>
                  <a:lnTo>
                    <a:pt x="994125" y="265335"/>
                  </a:lnTo>
                  <a:lnTo>
                    <a:pt x="1013840" y="261354"/>
                  </a:lnTo>
                  <a:lnTo>
                    <a:pt x="1029939" y="250500"/>
                  </a:lnTo>
                  <a:lnTo>
                    <a:pt x="1040793" y="234401"/>
                  </a:lnTo>
                  <a:lnTo>
                    <a:pt x="1044773" y="214687"/>
                  </a:lnTo>
                  <a:lnTo>
                    <a:pt x="1044773" y="50647"/>
                  </a:lnTo>
                  <a:lnTo>
                    <a:pt x="1040793" y="30933"/>
                  </a:lnTo>
                  <a:lnTo>
                    <a:pt x="1029939" y="14834"/>
                  </a:lnTo>
                  <a:lnTo>
                    <a:pt x="1013840" y="3980"/>
                  </a:lnTo>
                  <a:lnTo>
                    <a:pt x="994125" y="0"/>
                  </a:lnTo>
                  <a:close/>
                </a:path>
              </a:pathLst>
            </a:custGeom>
            <a:ln w="10129">
              <a:solidFill>
                <a:srgbClr val="FFA5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6" name="Graphic 29">
              <a:extLst>
                <a:ext uri="{FF2B5EF4-FFF2-40B4-BE49-F238E27FC236}">
                  <a16:creationId xmlns:a16="http://schemas.microsoft.com/office/drawing/2014/main" id="{5AEF0B01-49B9-6970-3334-187372EB5B6C}"/>
                </a:ext>
              </a:extLst>
            </p:cNvPr>
            <p:cNvSpPr/>
            <p:nvPr/>
          </p:nvSpPr>
          <p:spPr>
            <a:xfrm>
              <a:off x="527451" y="270767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7" name="Graphic 30">
              <a:extLst>
                <a:ext uri="{FF2B5EF4-FFF2-40B4-BE49-F238E27FC236}">
                  <a16:creationId xmlns:a16="http://schemas.microsoft.com/office/drawing/2014/main" id="{79863A08-A8A4-4BA6-373A-68959A9A46C1}"/>
                </a:ext>
              </a:extLst>
            </p:cNvPr>
            <p:cNvSpPr/>
            <p:nvPr/>
          </p:nvSpPr>
          <p:spPr>
            <a:xfrm>
              <a:off x="507490" y="527793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8" name="Graphic 31">
              <a:extLst>
                <a:ext uri="{FF2B5EF4-FFF2-40B4-BE49-F238E27FC236}">
                  <a16:creationId xmlns:a16="http://schemas.microsoft.com/office/drawing/2014/main" id="{A3A4D36D-92AA-D623-795C-53ED21D762AC}"/>
                </a:ext>
              </a:extLst>
            </p:cNvPr>
            <p:cNvSpPr/>
            <p:nvPr/>
          </p:nvSpPr>
          <p:spPr>
            <a:xfrm>
              <a:off x="507490" y="527793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59" name="Graphic 32">
              <a:extLst>
                <a:ext uri="{FF2B5EF4-FFF2-40B4-BE49-F238E27FC236}">
                  <a16:creationId xmlns:a16="http://schemas.microsoft.com/office/drawing/2014/main" id="{66BC0220-00C5-DBF1-92D6-F4098B92A46C}"/>
                </a:ext>
              </a:extLst>
            </p:cNvPr>
            <p:cNvSpPr/>
            <p:nvPr/>
          </p:nvSpPr>
          <p:spPr>
            <a:xfrm>
              <a:off x="527451" y="857321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0" name="Graphic 33">
              <a:extLst>
                <a:ext uri="{FF2B5EF4-FFF2-40B4-BE49-F238E27FC236}">
                  <a16:creationId xmlns:a16="http://schemas.microsoft.com/office/drawing/2014/main" id="{2A266465-812F-89B6-C06D-664C17D700CD}"/>
                </a:ext>
              </a:extLst>
            </p:cNvPr>
            <p:cNvSpPr/>
            <p:nvPr/>
          </p:nvSpPr>
          <p:spPr>
            <a:xfrm>
              <a:off x="507490" y="1114347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1" name="Graphic 34">
              <a:extLst>
                <a:ext uri="{FF2B5EF4-FFF2-40B4-BE49-F238E27FC236}">
                  <a16:creationId xmlns:a16="http://schemas.microsoft.com/office/drawing/2014/main" id="{C728134B-F35D-1F54-92AD-993E003F77A0}"/>
                </a:ext>
              </a:extLst>
            </p:cNvPr>
            <p:cNvSpPr/>
            <p:nvPr/>
          </p:nvSpPr>
          <p:spPr>
            <a:xfrm>
              <a:off x="507490" y="1114347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2" name="Graphic 35">
              <a:extLst>
                <a:ext uri="{FF2B5EF4-FFF2-40B4-BE49-F238E27FC236}">
                  <a16:creationId xmlns:a16="http://schemas.microsoft.com/office/drawing/2014/main" id="{D2A12979-F3AC-AF3B-A941-FC131CC9BDBF}"/>
                </a:ext>
              </a:extLst>
            </p:cNvPr>
            <p:cNvSpPr/>
            <p:nvPr/>
          </p:nvSpPr>
          <p:spPr>
            <a:xfrm>
              <a:off x="527451" y="1443875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3" name="Graphic 36">
              <a:extLst>
                <a:ext uri="{FF2B5EF4-FFF2-40B4-BE49-F238E27FC236}">
                  <a16:creationId xmlns:a16="http://schemas.microsoft.com/office/drawing/2014/main" id="{94495C21-32E1-467E-4DEF-4C14211C426E}"/>
                </a:ext>
              </a:extLst>
            </p:cNvPr>
            <p:cNvSpPr/>
            <p:nvPr/>
          </p:nvSpPr>
          <p:spPr>
            <a:xfrm>
              <a:off x="507490" y="1700901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4" name="Graphic 37">
              <a:extLst>
                <a:ext uri="{FF2B5EF4-FFF2-40B4-BE49-F238E27FC236}">
                  <a16:creationId xmlns:a16="http://schemas.microsoft.com/office/drawing/2014/main" id="{55BCFFC2-A9A7-0B4A-C58A-3F9FBDC5407D}"/>
                </a:ext>
              </a:extLst>
            </p:cNvPr>
            <p:cNvSpPr/>
            <p:nvPr/>
          </p:nvSpPr>
          <p:spPr>
            <a:xfrm>
              <a:off x="507490" y="1700901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5" name="Graphic 38">
              <a:extLst>
                <a:ext uri="{FF2B5EF4-FFF2-40B4-BE49-F238E27FC236}">
                  <a16:creationId xmlns:a16="http://schemas.microsoft.com/office/drawing/2014/main" id="{31ED58DC-D997-829E-F171-A72A7F3E1871}"/>
                </a:ext>
              </a:extLst>
            </p:cNvPr>
            <p:cNvSpPr/>
            <p:nvPr/>
          </p:nvSpPr>
          <p:spPr>
            <a:xfrm>
              <a:off x="527451" y="2030429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6" name="Graphic 39">
              <a:extLst>
                <a:ext uri="{FF2B5EF4-FFF2-40B4-BE49-F238E27FC236}">
                  <a16:creationId xmlns:a16="http://schemas.microsoft.com/office/drawing/2014/main" id="{4FB6C4C4-F6ED-3DEA-9139-25958B104B03}"/>
                </a:ext>
              </a:extLst>
            </p:cNvPr>
            <p:cNvSpPr/>
            <p:nvPr/>
          </p:nvSpPr>
          <p:spPr>
            <a:xfrm>
              <a:off x="507490" y="2287455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7" name="Graphic 40">
              <a:extLst>
                <a:ext uri="{FF2B5EF4-FFF2-40B4-BE49-F238E27FC236}">
                  <a16:creationId xmlns:a16="http://schemas.microsoft.com/office/drawing/2014/main" id="{5EF93D43-1612-BCD3-535D-EA18FEA98898}"/>
                </a:ext>
              </a:extLst>
            </p:cNvPr>
            <p:cNvSpPr/>
            <p:nvPr/>
          </p:nvSpPr>
          <p:spPr>
            <a:xfrm>
              <a:off x="507490" y="2287455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8" name="Graphic 41">
              <a:extLst>
                <a:ext uri="{FF2B5EF4-FFF2-40B4-BE49-F238E27FC236}">
                  <a16:creationId xmlns:a16="http://schemas.microsoft.com/office/drawing/2014/main" id="{EE463B29-AD24-4D1F-EBF7-C953C2302467}"/>
                </a:ext>
              </a:extLst>
            </p:cNvPr>
            <p:cNvSpPr/>
            <p:nvPr/>
          </p:nvSpPr>
          <p:spPr>
            <a:xfrm>
              <a:off x="527451" y="2616983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9" name="Graphic 42">
              <a:extLst>
                <a:ext uri="{FF2B5EF4-FFF2-40B4-BE49-F238E27FC236}">
                  <a16:creationId xmlns:a16="http://schemas.microsoft.com/office/drawing/2014/main" id="{82759033-D7FD-D71E-BD75-C2FCEBF7802D}"/>
                </a:ext>
              </a:extLst>
            </p:cNvPr>
            <p:cNvSpPr/>
            <p:nvPr/>
          </p:nvSpPr>
          <p:spPr>
            <a:xfrm>
              <a:off x="507490" y="2874009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0" name="Graphic 43">
              <a:extLst>
                <a:ext uri="{FF2B5EF4-FFF2-40B4-BE49-F238E27FC236}">
                  <a16:creationId xmlns:a16="http://schemas.microsoft.com/office/drawing/2014/main" id="{2196E9B8-5F0D-C3DE-4285-32FCA9222322}"/>
                </a:ext>
              </a:extLst>
            </p:cNvPr>
            <p:cNvSpPr/>
            <p:nvPr/>
          </p:nvSpPr>
          <p:spPr>
            <a:xfrm>
              <a:off x="507490" y="2874009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1" name="Graphic 44">
              <a:extLst>
                <a:ext uri="{FF2B5EF4-FFF2-40B4-BE49-F238E27FC236}">
                  <a16:creationId xmlns:a16="http://schemas.microsoft.com/office/drawing/2014/main" id="{187DFC53-FAB1-D4A7-AC2A-749236F3976F}"/>
                </a:ext>
              </a:extLst>
            </p:cNvPr>
            <p:cNvSpPr/>
            <p:nvPr/>
          </p:nvSpPr>
          <p:spPr>
            <a:xfrm>
              <a:off x="527451" y="3203537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2" name="Graphic 45">
              <a:extLst>
                <a:ext uri="{FF2B5EF4-FFF2-40B4-BE49-F238E27FC236}">
                  <a16:creationId xmlns:a16="http://schemas.microsoft.com/office/drawing/2014/main" id="{0B292527-DEE5-E7B8-3361-F1D15E92956A}"/>
                </a:ext>
              </a:extLst>
            </p:cNvPr>
            <p:cNvSpPr/>
            <p:nvPr/>
          </p:nvSpPr>
          <p:spPr>
            <a:xfrm>
              <a:off x="507490" y="3460563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3" name="Graphic 46">
              <a:extLst>
                <a:ext uri="{FF2B5EF4-FFF2-40B4-BE49-F238E27FC236}">
                  <a16:creationId xmlns:a16="http://schemas.microsoft.com/office/drawing/2014/main" id="{A92816A9-53A4-5CC9-9F4D-DC656AB62D22}"/>
                </a:ext>
              </a:extLst>
            </p:cNvPr>
            <p:cNvSpPr/>
            <p:nvPr/>
          </p:nvSpPr>
          <p:spPr>
            <a:xfrm>
              <a:off x="507490" y="3460563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4" name="Graphic 47">
              <a:extLst>
                <a:ext uri="{FF2B5EF4-FFF2-40B4-BE49-F238E27FC236}">
                  <a16:creationId xmlns:a16="http://schemas.microsoft.com/office/drawing/2014/main" id="{B6996276-E0A7-216C-73BC-09DBFC5E40C5}"/>
                </a:ext>
              </a:extLst>
            </p:cNvPr>
            <p:cNvSpPr/>
            <p:nvPr/>
          </p:nvSpPr>
          <p:spPr>
            <a:xfrm>
              <a:off x="1054902" y="726163"/>
              <a:ext cx="956944" cy="2346325"/>
            </a:xfrm>
            <a:custGeom>
              <a:avLst/>
              <a:gdLst/>
              <a:ahLst/>
              <a:cxnLst/>
              <a:rect l="l" t="t" r="r" b="b"/>
              <a:pathLst>
                <a:path w="956944" h="2346325">
                  <a:moveTo>
                    <a:pt x="0" y="0"/>
                  </a:moveTo>
                  <a:lnTo>
                    <a:pt x="900668" y="0"/>
                  </a:lnTo>
                  <a:lnTo>
                    <a:pt x="900668" y="2346215"/>
                  </a:lnTo>
                  <a:lnTo>
                    <a:pt x="956510" y="2346215"/>
                  </a:lnTo>
                </a:path>
              </a:pathLst>
            </a:custGeom>
            <a:ln w="10129">
              <a:solidFill>
                <a:srgbClr val="FF4C4C"/>
              </a:solidFill>
              <a:prstDash val="dash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5" name="Graphic 48">
              <a:extLst>
                <a:ext uri="{FF2B5EF4-FFF2-40B4-BE49-F238E27FC236}">
                  <a16:creationId xmlns:a16="http://schemas.microsoft.com/office/drawing/2014/main" id="{05771D43-824C-F374-1891-8A066097654D}"/>
                </a:ext>
              </a:extLst>
            </p:cNvPr>
            <p:cNvSpPr/>
            <p:nvPr/>
          </p:nvSpPr>
          <p:spPr>
            <a:xfrm>
              <a:off x="1996440" y="3052418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0" y="0"/>
                  </a:move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C4C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6" name="Graphic 49">
              <a:extLst>
                <a:ext uri="{FF2B5EF4-FFF2-40B4-BE49-F238E27FC236}">
                  <a16:creationId xmlns:a16="http://schemas.microsoft.com/office/drawing/2014/main" id="{6ED06CAE-2167-22E5-F587-4173576B02A2}"/>
                </a:ext>
              </a:extLst>
            </p:cNvPr>
            <p:cNvSpPr/>
            <p:nvPr/>
          </p:nvSpPr>
          <p:spPr>
            <a:xfrm>
              <a:off x="1996440" y="3052418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52787" y="19961"/>
                  </a:moveTo>
                  <a:lnTo>
                    <a:pt x="0" y="0"/>
                  </a:ln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close/>
                </a:path>
              </a:pathLst>
            </a:custGeom>
            <a:ln w="10129">
              <a:solidFill>
                <a:srgbClr val="FF4C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7" name="Graphic 50">
              <a:extLst>
                <a:ext uri="{FF2B5EF4-FFF2-40B4-BE49-F238E27FC236}">
                  <a16:creationId xmlns:a16="http://schemas.microsoft.com/office/drawing/2014/main" id="{9363B3D8-BF89-6CAC-0822-2C7B4CFA9A66}"/>
                </a:ext>
              </a:extLst>
            </p:cNvPr>
            <p:cNvSpPr/>
            <p:nvPr/>
          </p:nvSpPr>
          <p:spPr>
            <a:xfrm>
              <a:off x="1054902" y="1312717"/>
              <a:ext cx="956944" cy="1173480"/>
            </a:xfrm>
            <a:custGeom>
              <a:avLst/>
              <a:gdLst/>
              <a:ahLst/>
              <a:cxnLst/>
              <a:rect l="l" t="t" r="r" b="b"/>
              <a:pathLst>
                <a:path w="956944" h="1173480">
                  <a:moveTo>
                    <a:pt x="0" y="0"/>
                  </a:moveTo>
                  <a:lnTo>
                    <a:pt x="900668" y="0"/>
                  </a:lnTo>
                  <a:lnTo>
                    <a:pt x="900668" y="1173107"/>
                  </a:lnTo>
                  <a:lnTo>
                    <a:pt x="956510" y="1173107"/>
                  </a:lnTo>
                </a:path>
              </a:pathLst>
            </a:custGeom>
            <a:ln w="10129">
              <a:solidFill>
                <a:srgbClr val="FF4C4C"/>
              </a:solidFill>
              <a:prstDash val="dash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8" name="Graphic 51">
              <a:extLst>
                <a:ext uri="{FF2B5EF4-FFF2-40B4-BE49-F238E27FC236}">
                  <a16:creationId xmlns:a16="http://schemas.microsoft.com/office/drawing/2014/main" id="{CEBF1248-3171-8E24-543C-51B1F7D3A662}"/>
                </a:ext>
              </a:extLst>
            </p:cNvPr>
            <p:cNvSpPr/>
            <p:nvPr/>
          </p:nvSpPr>
          <p:spPr>
            <a:xfrm>
              <a:off x="1996440" y="2465864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0" y="0"/>
                  </a:move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C4C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79" name="Graphic 52">
              <a:extLst>
                <a:ext uri="{FF2B5EF4-FFF2-40B4-BE49-F238E27FC236}">
                  <a16:creationId xmlns:a16="http://schemas.microsoft.com/office/drawing/2014/main" id="{383F27C7-B073-67D8-5526-59E51C2B6C40}"/>
                </a:ext>
              </a:extLst>
            </p:cNvPr>
            <p:cNvSpPr/>
            <p:nvPr/>
          </p:nvSpPr>
          <p:spPr>
            <a:xfrm>
              <a:off x="1996440" y="2465864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52787" y="19961"/>
                  </a:moveTo>
                  <a:lnTo>
                    <a:pt x="0" y="0"/>
                  </a:ln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close/>
                </a:path>
              </a:pathLst>
            </a:custGeom>
            <a:ln w="10129">
              <a:solidFill>
                <a:srgbClr val="FF4C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0" name="Graphic 53">
              <a:extLst>
                <a:ext uri="{FF2B5EF4-FFF2-40B4-BE49-F238E27FC236}">
                  <a16:creationId xmlns:a16="http://schemas.microsoft.com/office/drawing/2014/main" id="{FD04E9A3-E609-9A8D-9F62-D7C31FC8ED07}"/>
                </a:ext>
              </a:extLst>
            </p:cNvPr>
            <p:cNvSpPr/>
            <p:nvPr/>
          </p:nvSpPr>
          <p:spPr>
            <a:xfrm>
              <a:off x="1054902" y="1899271"/>
              <a:ext cx="956944" cy="1270"/>
            </a:xfrm>
            <a:custGeom>
              <a:avLst/>
              <a:gdLst/>
              <a:ahLst/>
              <a:cxnLst/>
              <a:rect l="l" t="t" r="r" b="b"/>
              <a:pathLst>
                <a:path w="956944">
                  <a:moveTo>
                    <a:pt x="0" y="0"/>
                  </a:moveTo>
                  <a:lnTo>
                    <a:pt x="900668" y="0"/>
                  </a:lnTo>
                  <a:lnTo>
                    <a:pt x="956510" y="0"/>
                  </a:lnTo>
                </a:path>
              </a:pathLst>
            </a:custGeom>
            <a:ln w="10129">
              <a:solidFill>
                <a:srgbClr val="FF4C4C"/>
              </a:solidFill>
              <a:prstDash val="dash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1" name="Graphic 54">
              <a:extLst>
                <a:ext uri="{FF2B5EF4-FFF2-40B4-BE49-F238E27FC236}">
                  <a16:creationId xmlns:a16="http://schemas.microsoft.com/office/drawing/2014/main" id="{E19669C2-6230-935D-0F6E-9B2D060557B2}"/>
                </a:ext>
              </a:extLst>
            </p:cNvPr>
            <p:cNvSpPr/>
            <p:nvPr/>
          </p:nvSpPr>
          <p:spPr>
            <a:xfrm>
              <a:off x="1996440" y="1879310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0" y="0"/>
                  </a:move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C4C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2" name="Graphic 55">
              <a:extLst>
                <a:ext uri="{FF2B5EF4-FFF2-40B4-BE49-F238E27FC236}">
                  <a16:creationId xmlns:a16="http://schemas.microsoft.com/office/drawing/2014/main" id="{0EB28B04-F74B-4C5F-5432-17C014E50EBC}"/>
                </a:ext>
              </a:extLst>
            </p:cNvPr>
            <p:cNvSpPr/>
            <p:nvPr/>
          </p:nvSpPr>
          <p:spPr>
            <a:xfrm>
              <a:off x="1996440" y="1879310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52787" y="19961"/>
                  </a:moveTo>
                  <a:lnTo>
                    <a:pt x="0" y="0"/>
                  </a:ln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close/>
                </a:path>
              </a:pathLst>
            </a:custGeom>
            <a:ln w="10129">
              <a:solidFill>
                <a:srgbClr val="FF4C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3" name="Graphic 56">
              <a:extLst>
                <a:ext uri="{FF2B5EF4-FFF2-40B4-BE49-F238E27FC236}">
                  <a16:creationId xmlns:a16="http://schemas.microsoft.com/office/drawing/2014/main" id="{C2A5D9F4-EC7F-E031-2AC2-7B3D5F9504DB}"/>
                </a:ext>
              </a:extLst>
            </p:cNvPr>
            <p:cNvSpPr/>
            <p:nvPr/>
          </p:nvSpPr>
          <p:spPr>
            <a:xfrm>
              <a:off x="1054902" y="1312717"/>
              <a:ext cx="956944" cy="1173480"/>
            </a:xfrm>
            <a:custGeom>
              <a:avLst/>
              <a:gdLst/>
              <a:ahLst/>
              <a:cxnLst/>
              <a:rect l="l" t="t" r="r" b="b"/>
              <a:pathLst>
                <a:path w="956944" h="1173480">
                  <a:moveTo>
                    <a:pt x="0" y="1173107"/>
                  </a:moveTo>
                  <a:lnTo>
                    <a:pt x="900668" y="1173107"/>
                  </a:lnTo>
                  <a:lnTo>
                    <a:pt x="900668" y="0"/>
                  </a:lnTo>
                  <a:lnTo>
                    <a:pt x="956510" y="0"/>
                  </a:lnTo>
                </a:path>
              </a:pathLst>
            </a:custGeom>
            <a:ln w="10129">
              <a:solidFill>
                <a:srgbClr val="FF4C4C"/>
              </a:solidFill>
              <a:prstDash val="dash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4" name="Graphic 57">
              <a:extLst>
                <a:ext uri="{FF2B5EF4-FFF2-40B4-BE49-F238E27FC236}">
                  <a16:creationId xmlns:a16="http://schemas.microsoft.com/office/drawing/2014/main" id="{8D60FF56-7AEA-4E9E-9798-DC983267A42E}"/>
                </a:ext>
              </a:extLst>
            </p:cNvPr>
            <p:cNvSpPr/>
            <p:nvPr/>
          </p:nvSpPr>
          <p:spPr>
            <a:xfrm>
              <a:off x="1996440" y="1292756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0" y="0"/>
                  </a:move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C4C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5" name="Graphic 58">
              <a:extLst>
                <a:ext uri="{FF2B5EF4-FFF2-40B4-BE49-F238E27FC236}">
                  <a16:creationId xmlns:a16="http://schemas.microsoft.com/office/drawing/2014/main" id="{13240FA1-9221-D630-C8BD-EE2430B719C1}"/>
                </a:ext>
              </a:extLst>
            </p:cNvPr>
            <p:cNvSpPr/>
            <p:nvPr/>
          </p:nvSpPr>
          <p:spPr>
            <a:xfrm>
              <a:off x="1996440" y="1292756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52787" y="19961"/>
                  </a:moveTo>
                  <a:lnTo>
                    <a:pt x="0" y="0"/>
                  </a:ln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close/>
                </a:path>
              </a:pathLst>
            </a:custGeom>
            <a:ln w="10129">
              <a:solidFill>
                <a:srgbClr val="FF4C4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6" name="Graphic 59">
              <a:extLst>
                <a:ext uri="{FF2B5EF4-FFF2-40B4-BE49-F238E27FC236}">
                  <a16:creationId xmlns:a16="http://schemas.microsoft.com/office/drawing/2014/main" id="{37600364-B773-FC1B-648D-FFF33BF61C56}"/>
                </a:ext>
              </a:extLst>
            </p:cNvPr>
            <p:cNvSpPr/>
            <p:nvPr/>
          </p:nvSpPr>
          <p:spPr>
            <a:xfrm>
              <a:off x="1054902" y="1443875"/>
              <a:ext cx="1483995" cy="2215515"/>
            </a:xfrm>
            <a:custGeom>
              <a:avLst/>
              <a:gdLst/>
              <a:ahLst/>
              <a:cxnLst/>
              <a:rect l="l" t="t" r="r" b="b"/>
              <a:pathLst>
                <a:path w="1483995" h="2215515">
                  <a:moveTo>
                    <a:pt x="0" y="2215058"/>
                  </a:moveTo>
                  <a:lnTo>
                    <a:pt x="216162" y="2215058"/>
                  </a:lnTo>
                  <a:lnTo>
                    <a:pt x="216162" y="0"/>
                  </a:lnTo>
                  <a:lnTo>
                    <a:pt x="1483961" y="0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7" name="Graphic 60">
              <a:extLst>
                <a:ext uri="{FF2B5EF4-FFF2-40B4-BE49-F238E27FC236}">
                  <a16:creationId xmlns:a16="http://schemas.microsoft.com/office/drawing/2014/main" id="{0647A20E-0B2D-B02E-A1C4-1D6EC5D59113}"/>
                </a:ext>
              </a:extLst>
            </p:cNvPr>
            <p:cNvSpPr/>
            <p:nvPr/>
          </p:nvSpPr>
          <p:spPr>
            <a:xfrm>
              <a:off x="2523891" y="1423914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0" y="0"/>
                  </a:move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8" name="Graphic 61">
              <a:extLst>
                <a:ext uri="{FF2B5EF4-FFF2-40B4-BE49-F238E27FC236}">
                  <a16:creationId xmlns:a16="http://schemas.microsoft.com/office/drawing/2014/main" id="{15EA264B-BC3D-0D57-4941-6A011FCA1DA9}"/>
                </a:ext>
              </a:extLst>
            </p:cNvPr>
            <p:cNvSpPr/>
            <p:nvPr/>
          </p:nvSpPr>
          <p:spPr>
            <a:xfrm>
              <a:off x="2523891" y="1423914"/>
              <a:ext cx="53340" cy="40005"/>
            </a:xfrm>
            <a:custGeom>
              <a:avLst/>
              <a:gdLst/>
              <a:ahLst/>
              <a:cxnLst/>
              <a:rect l="l" t="t" r="r" b="b"/>
              <a:pathLst>
                <a:path w="53340" h="40005">
                  <a:moveTo>
                    <a:pt x="52787" y="19961"/>
                  </a:moveTo>
                  <a:lnTo>
                    <a:pt x="0" y="0"/>
                  </a:lnTo>
                  <a:lnTo>
                    <a:pt x="17504" y="19961"/>
                  </a:lnTo>
                  <a:lnTo>
                    <a:pt x="0" y="39922"/>
                  </a:lnTo>
                  <a:lnTo>
                    <a:pt x="52787" y="19961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9" name="Graphic 62">
              <a:extLst>
                <a:ext uri="{FF2B5EF4-FFF2-40B4-BE49-F238E27FC236}">
                  <a16:creationId xmlns:a16="http://schemas.microsoft.com/office/drawing/2014/main" id="{4932096C-E97A-1FE2-40D4-C5B00AA4C11C}"/>
                </a:ext>
              </a:extLst>
            </p:cNvPr>
            <p:cNvSpPr/>
            <p:nvPr/>
          </p:nvSpPr>
          <p:spPr>
            <a:xfrm>
              <a:off x="2591104" y="1443875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0" name="Graphic 63">
              <a:extLst>
                <a:ext uri="{FF2B5EF4-FFF2-40B4-BE49-F238E27FC236}">
                  <a16:creationId xmlns:a16="http://schemas.microsoft.com/office/drawing/2014/main" id="{6ED06BAA-DF90-1F27-E468-A3ED4294B1B9}"/>
                </a:ext>
              </a:extLst>
            </p:cNvPr>
            <p:cNvSpPr/>
            <p:nvPr/>
          </p:nvSpPr>
          <p:spPr>
            <a:xfrm>
              <a:off x="2571142" y="1700901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1" name="Graphic 64">
              <a:extLst>
                <a:ext uri="{FF2B5EF4-FFF2-40B4-BE49-F238E27FC236}">
                  <a16:creationId xmlns:a16="http://schemas.microsoft.com/office/drawing/2014/main" id="{85D205B9-D318-0D6F-D6BC-64D4AF8345BE}"/>
                </a:ext>
              </a:extLst>
            </p:cNvPr>
            <p:cNvSpPr/>
            <p:nvPr/>
          </p:nvSpPr>
          <p:spPr>
            <a:xfrm>
              <a:off x="2571142" y="1700901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2" name="Graphic 65">
              <a:extLst>
                <a:ext uri="{FF2B5EF4-FFF2-40B4-BE49-F238E27FC236}">
                  <a16:creationId xmlns:a16="http://schemas.microsoft.com/office/drawing/2014/main" id="{E7AC70E5-E53C-19E5-7D1D-339C0B0EEB45}"/>
                </a:ext>
              </a:extLst>
            </p:cNvPr>
            <p:cNvSpPr/>
            <p:nvPr/>
          </p:nvSpPr>
          <p:spPr>
            <a:xfrm>
              <a:off x="2591104" y="2030429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3" name="Graphic 66">
              <a:extLst>
                <a:ext uri="{FF2B5EF4-FFF2-40B4-BE49-F238E27FC236}">
                  <a16:creationId xmlns:a16="http://schemas.microsoft.com/office/drawing/2014/main" id="{EECA8890-995E-9789-2811-F7C7F2B159BA}"/>
                </a:ext>
              </a:extLst>
            </p:cNvPr>
            <p:cNvSpPr/>
            <p:nvPr/>
          </p:nvSpPr>
          <p:spPr>
            <a:xfrm>
              <a:off x="2571142" y="2287455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4" name="Graphic 67">
              <a:extLst>
                <a:ext uri="{FF2B5EF4-FFF2-40B4-BE49-F238E27FC236}">
                  <a16:creationId xmlns:a16="http://schemas.microsoft.com/office/drawing/2014/main" id="{61F61736-4321-2CC9-802D-27B866680B09}"/>
                </a:ext>
              </a:extLst>
            </p:cNvPr>
            <p:cNvSpPr/>
            <p:nvPr/>
          </p:nvSpPr>
          <p:spPr>
            <a:xfrm>
              <a:off x="2571142" y="2287455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5" name="Graphic 68">
              <a:extLst>
                <a:ext uri="{FF2B5EF4-FFF2-40B4-BE49-F238E27FC236}">
                  <a16:creationId xmlns:a16="http://schemas.microsoft.com/office/drawing/2014/main" id="{11ECCF36-557D-1077-69CB-99B4E495025C}"/>
                </a:ext>
              </a:extLst>
            </p:cNvPr>
            <p:cNvSpPr/>
            <p:nvPr/>
          </p:nvSpPr>
          <p:spPr>
            <a:xfrm>
              <a:off x="2591104" y="2616983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6" name="Graphic 69">
              <a:extLst>
                <a:ext uri="{FF2B5EF4-FFF2-40B4-BE49-F238E27FC236}">
                  <a16:creationId xmlns:a16="http://schemas.microsoft.com/office/drawing/2014/main" id="{59A2946B-D105-687F-E46B-871E30F1A5D5}"/>
                </a:ext>
              </a:extLst>
            </p:cNvPr>
            <p:cNvSpPr/>
            <p:nvPr/>
          </p:nvSpPr>
          <p:spPr>
            <a:xfrm>
              <a:off x="2571142" y="2874009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7" name="Graphic 70">
              <a:extLst>
                <a:ext uri="{FF2B5EF4-FFF2-40B4-BE49-F238E27FC236}">
                  <a16:creationId xmlns:a16="http://schemas.microsoft.com/office/drawing/2014/main" id="{2CC454F3-B7ED-2BEC-06B5-9243078AE2B6}"/>
                </a:ext>
              </a:extLst>
            </p:cNvPr>
            <p:cNvSpPr/>
            <p:nvPr/>
          </p:nvSpPr>
          <p:spPr>
            <a:xfrm>
              <a:off x="2571142" y="2874009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8" name="Graphic 71">
              <a:extLst>
                <a:ext uri="{FF2B5EF4-FFF2-40B4-BE49-F238E27FC236}">
                  <a16:creationId xmlns:a16="http://schemas.microsoft.com/office/drawing/2014/main" id="{87A67AD6-E36E-6ED3-631A-9E6DDECF77D3}"/>
                </a:ext>
              </a:extLst>
            </p:cNvPr>
            <p:cNvSpPr/>
            <p:nvPr/>
          </p:nvSpPr>
          <p:spPr>
            <a:xfrm>
              <a:off x="2591104" y="3203537"/>
              <a:ext cx="1270" cy="272415"/>
            </a:xfrm>
            <a:custGeom>
              <a:avLst/>
              <a:gdLst/>
              <a:ahLst/>
              <a:cxnLst/>
              <a:rect l="l" t="t" r="r" b="b"/>
              <a:pathLst>
                <a:path h="272415">
                  <a:moveTo>
                    <a:pt x="0" y="0"/>
                  </a:moveTo>
                  <a:lnTo>
                    <a:pt x="0" y="271998"/>
                  </a:lnTo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9" name="Graphic 72">
              <a:extLst>
                <a:ext uri="{FF2B5EF4-FFF2-40B4-BE49-F238E27FC236}">
                  <a16:creationId xmlns:a16="http://schemas.microsoft.com/office/drawing/2014/main" id="{480EF2B6-FE8F-093E-F523-BE5B2C49642E}"/>
                </a:ext>
              </a:extLst>
            </p:cNvPr>
            <p:cNvSpPr/>
            <p:nvPr/>
          </p:nvSpPr>
          <p:spPr>
            <a:xfrm>
              <a:off x="2571142" y="3460563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39922" y="0"/>
                  </a:move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lnTo>
                    <a:pt x="3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0" name="Graphic 73">
              <a:extLst>
                <a:ext uri="{FF2B5EF4-FFF2-40B4-BE49-F238E27FC236}">
                  <a16:creationId xmlns:a16="http://schemas.microsoft.com/office/drawing/2014/main" id="{9CAF6B24-E971-7E41-2411-E3FA9A08816E}"/>
                </a:ext>
              </a:extLst>
            </p:cNvPr>
            <p:cNvSpPr/>
            <p:nvPr/>
          </p:nvSpPr>
          <p:spPr>
            <a:xfrm>
              <a:off x="2571142" y="3460563"/>
              <a:ext cx="40005" cy="53340"/>
            </a:xfrm>
            <a:custGeom>
              <a:avLst/>
              <a:gdLst/>
              <a:ahLst/>
              <a:cxnLst/>
              <a:rect l="l" t="t" r="r" b="b"/>
              <a:pathLst>
                <a:path w="40005" h="53340">
                  <a:moveTo>
                    <a:pt x="19961" y="52787"/>
                  </a:moveTo>
                  <a:lnTo>
                    <a:pt x="39922" y="0"/>
                  </a:lnTo>
                  <a:lnTo>
                    <a:pt x="19961" y="17504"/>
                  </a:lnTo>
                  <a:lnTo>
                    <a:pt x="0" y="0"/>
                  </a:lnTo>
                  <a:lnTo>
                    <a:pt x="19961" y="52787"/>
                  </a:lnTo>
                  <a:close/>
                </a:path>
              </a:pathLst>
            </a:custGeom>
            <a:ln w="1012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1" name="Textbox 74">
              <a:extLst>
                <a:ext uri="{FF2B5EF4-FFF2-40B4-BE49-F238E27FC236}">
                  <a16:creationId xmlns:a16="http://schemas.microsoft.com/office/drawing/2014/main" id="{ABA8B586-679B-337A-72EF-D536D01EE7A9}"/>
                </a:ext>
              </a:extLst>
            </p:cNvPr>
            <p:cNvSpPr txBox="1"/>
            <p:nvPr/>
          </p:nvSpPr>
          <p:spPr>
            <a:xfrm>
              <a:off x="307644" y="24574"/>
              <a:ext cx="452755" cy="20827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7780" indent="-17780"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Input</a:t>
              </a:r>
              <a:r>
                <a:rPr lang="en-US" sz="700" spc="-4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Image</a:t>
              </a:r>
              <a:r>
                <a:rPr lang="en-US" sz="700" spc="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spc="-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(512</a:t>
              </a:r>
              <a:r>
                <a:rPr lang="en-US" sz="700" i="1" spc="-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×</a:t>
              </a:r>
              <a:r>
                <a:rPr lang="en-US" sz="700" spc="-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512)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2" name="Textbox 75">
              <a:extLst>
                <a:ext uri="{FF2B5EF4-FFF2-40B4-BE49-F238E27FC236}">
                  <a16:creationId xmlns:a16="http://schemas.microsoft.com/office/drawing/2014/main" id="{44308674-EEA0-605E-57DF-72BEA46A04E3}"/>
                </a:ext>
              </a:extLst>
            </p:cNvPr>
            <p:cNvSpPr txBox="1"/>
            <p:nvPr/>
          </p:nvSpPr>
          <p:spPr>
            <a:xfrm>
              <a:off x="326568" y="673865"/>
              <a:ext cx="414655" cy="107314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95"/>
                </a:lnSpc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Conv</a:t>
              </a:r>
              <a:r>
                <a:rPr lang="en-US" sz="700" spc="1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spc="-2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Stem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3" name="Textbox 76">
              <a:extLst>
                <a:ext uri="{FF2B5EF4-FFF2-40B4-BE49-F238E27FC236}">
                  <a16:creationId xmlns:a16="http://schemas.microsoft.com/office/drawing/2014/main" id="{56B3D74B-FD1A-40F9-ADB6-4B6DA283E94A}"/>
                </a:ext>
              </a:extLst>
            </p:cNvPr>
            <p:cNvSpPr txBox="1"/>
            <p:nvPr/>
          </p:nvSpPr>
          <p:spPr>
            <a:xfrm>
              <a:off x="205182" y="1260411"/>
              <a:ext cx="657225" cy="107314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95"/>
                </a:lnSpc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MBConv</a:t>
              </a:r>
              <a:r>
                <a:rPr lang="en-US" sz="700" spc="2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Block</a:t>
              </a:r>
              <a:r>
                <a:rPr lang="en-US" sz="700" spc="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spc="-5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4" name="Textbox 77">
              <a:extLst>
                <a:ext uri="{FF2B5EF4-FFF2-40B4-BE49-F238E27FC236}">
                  <a16:creationId xmlns:a16="http://schemas.microsoft.com/office/drawing/2014/main" id="{81C557A9-859C-3376-65A8-39961C2DAFFF}"/>
                </a:ext>
              </a:extLst>
            </p:cNvPr>
            <p:cNvSpPr txBox="1"/>
            <p:nvPr/>
          </p:nvSpPr>
          <p:spPr>
            <a:xfrm>
              <a:off x="2326740" y="1209764"/>
              <a:ext cx="541655" cy="20827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48260" indent="-48895"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UpSample</a:t>
              </a:r>
              <a:r>
                <a:rPr lang="en-US" sz="700" spc="-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×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sz="700" spc="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Conv</a:t>
              </a:r>
              <a:r>
                <a:rPr lang="en-US" sz="700" spc="-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Block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5" name="Textbox 78">
              <a:extLst>
                <a:ext uri="{FF2B5EF4-FFF2-40B4-BE49-F238E27FC236}">
                  <a16:creationId xmlns:a16="http://schemas.microsoft.com/office/drawing/2014/main" id="{D05DEF4C-56BE-625F-E000-1475418AF495}"/>
                </a:ext>
              </a:extLst>
            </p:cNvPr>
            <p:cNvSpPr txBox="1"/>
            <p:nvPr/>
          </p:nvSpPr>
          <p:spPr>
            <a:xfrm>
              <a:off x="205182" y="1846956"/>
              <a:ext cx="657225" cy="107314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95"/>
                </a:lnSpc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MBConv</a:t>
              </a:r>
              <a:r>
                <a:rPr lang="en-US" sz="700" spc="2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Block</a:t>
              </a:r>
              <a:r>
                <a:rPr lang="en-US" sz="700" spc="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spc="-5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6" name="Textbox 79">
              <a:extLst>
                <a:ext uri="{FF2B5EF4-FFF2-40B4-BE49-F238E27FC236}">
                  <a16:creationId xmlns:a16="http://schemas.microsoft.com/office/drawing/2014/main" id="{9E98B380-AA59-DCC8-E37A-0418F553BB56}"/>
                </a:ext>
              </a:extLst>
            </p:cNvPr>
            <p:cNvSpPr txBox="1"/>
            <p:nvPr/>
          </p:nvSpPr>
          <p:spPr>
            <a:xfrm>
              <a:off x="2326740" y="1796310"/>
              <a:ext cx="541655" cy="20827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48260" indent="-48895"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UpSample</a:t>
              </a:r>
              <a:r>
                <a:rPr lang="en-US" sz="700" spc="-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×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sz="700" spc="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Conv</a:t>
              </a:r>
              <a:r>
                <a:rPr lang="en-US" sz="700" spc="-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Block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7" name="Textbox 80">
              <a:extLst>
                <a:ext uri="{FF2B5EF4-FFF2-40B4-BE49-F238E27FC236}">
                  <a16:creationId xmlns:a16="http://schemas.microsoft.com/office/drawing/2014/main" id="{D9EB1997-B013-32DA-5E2D-357C8BE43EB6}"/>
                </a:ext>
              </a:extLst>
            </p:cNvPr>
            <p:cNvSpPr txBox="1"/>
            <p:nvPr/>
          </p:nvSpPr>
          <p:spPr>
            <a:xfrm>
              <a:off x="205182" y="2433502"/>
              <a:ext cx="657225" cy="107314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95"/>
                </a:lnSpc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MBConv</a:t>
              </a:r>
              <a:r>
                <a:rPr lang="en-US" sz="700" spc="2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Block</a:t>
              </a:r>
              <a:r>
                <a:rPr lang="en-US" sz="700" spc="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spc="-5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8" name="Textbox 81">
              <a:extLst>
                <a:ext uri="{FF2B5EF4-FFF2-40B4-BE49-F238E27FC236}">
                  <a16:creationId xmlns:a16="http://schemas.microsoft.com/office/drawing/2014/main" id="{937B1003-1EF7-DAD5-A089-3AAEFD609E62}"/>
                </a:ext>
              </a:extLst>
            </p:cNvPr>
            <p:cNvSpPr txBox="1"/>
            <p:nvPr/>
          </p:nvSpPr>
          <p:spPr>
            <a:xfrm>
              <a:off x="2326740" y="2382855"/>
              <a:ext cx="541655" cy="20827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48260" indent="-48895"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UpSample</a:t>
              </a:r>
              <a:r>
                <a:rPr lang="en-US" sz="700" spc="-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×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sz="700" spc="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Conv</a:t>
              </a:r>
              <a:r>
                <a:rPr lang="en-US" sz="700" spc="-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Block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9" name="Textbox 82">
              <a:extLst>
                <a:ext uri="{FF2B5EF4-FFF2-40B4-BE49-F238E27FC236}">
                  <a16:creationId xmlns:a16="http://schemas.microsoft.com/office/drawing/2014/main" id="{DACDDC9D-649F-522E-2176-8A04256D7F09}"/>
                </a:ext>
              </a:extLst>
            </p:cNvPr>
            <p:cNvSpPr txBox="1"/>
            <p:nvPr/>
          </p:nvSpPr>
          <p:spPr>
            <a:xfrm>
              <a:off x="205182" y="3020047"/>
              <a:ext cx="657225" cy="107314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95"/>
                </a:lnSpc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MBConv</a:t>
              </a:r>
              <a:r>
                <a:rPr lang="en-US" sz="700" spc="25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Block</a:t>
              </a:r>
              <a:r>
                <a:rPr lang="en-US" sz="700" spc="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spc="-5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0" name="Textbox 83">
              <a:extLst>
                <a:ext uri="{FF2B5EF4-FFF2-40B4-BE49-F238E27FC236}">
                  <a16:creationId xmlns:a16="http://schemas.microsoft.com/office/drawing/2014/main" id="{33AE29AA-C6D7-3559-C131-765FB15C58A4}"/>
                </a:ext>
              </a:extLst>
            </p:cNvPr>
            <p:cNvSpPr txBox="1"/>
            <p:nvPr/>
          </p:nvSpPr>
          <p:spPr>
            <a:xfrm>
              <a:off x="2326740" y="2969401"/>
              <a:ext cx="541655" cy="20827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48260" indent="-48895"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UpSample</a:t>
              </a:r>
              <a:r>
                <a:rPr lang="en-US" sz="700" spc="-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×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sz="700" spc="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Conv</a:t>
              </a:r>
              <a:r>
                <a:rPr lang="en-US" sz="700" spc="-3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Block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1" name="Textbox 84">
              <a:extLst>
                <a:ext uri="{FF2B5EF4-FFF2-40B4-BE49-F238E27FC236}">
                  <a16:creationId xmlns:a16="http://schemas.microsoft.com/office/drawing/2014/main" id="{C7027786-FE55-65C5-DE3D-8C5B872E4D01}"/>
                </a:ext>
              </a:extLst>
            </p:cNvPr>
            <p:cNvSpPr txBox="1"/>
            <p:nvPr/>
          </p:nvSpPr>
          <p:spPr>
            <a:xfrm>
              <a:off x="241175" y="3597620"/>
              <a:ext cx="585470" cy="107314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95"/>
                </a:lnSpc>
                <a:buNone/>
              </a:pPr>
              <a:r>
                <a:rPr lang="en-US" sz="7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Encoder</a:t>
              </a:r>
              <a:r>
                <a:rPr lang="en-US" sz="700" spc="4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spc="-1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Output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2" name="Textbox 85">
              <a:extLst>
                <a:ext uri="{FF2B5EF4-FFF2-40B4-BE49-F238E27FC236}">
                  <a16:creationId xmlns:a16="http://schemas.microsoft.com/office/drawing/2014/main" id="{8AE84CE6-9F8C-4F6D-16F5-F5A86A0FB025}"/>
                </a:ext>
              </a:extLst>
            </p:cNvPr>
            <p:cNvSpPr txBox="1"/>
            <p:nvPr/>
          </p:nvSpPr>
          <p:spPr>
            <a:xfrm>
              <a:off x="2240711" y="3553544"/>
              <a:ext cx="713740" cy="20827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39370" indent="-40005">
                <a:buNone/>
              </a:pPr>
              <a:r>
                <a:rPr lang="en-US" sz="7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1-Channel</a:t>
              </a:r>
              <a:r>
                <a:rPr lang="en-US" sz="700" spc="-45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Sigmoid</a:t>
              </a:r>
              <a:r>
                <a:rPr lang="en-US" sz="700" spc="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Probability</a:t>
              </a:r>
              <a:r>
                <a:rPr lang="en-US" sz="700" spc="-3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7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Mask</a:t>
              </a:r>
              <a:endParaRPr lang="en-IN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B617B518-58F3-904B-AE38-BE3E21291E3F}"/>
              </a:ext>
            </a:extLst>
          </p:cNvPr>
          <p:cNvSpPr txBox="1"/>
          <p:nvPr/>
        </p:nvSpPr>
        <p:spPr>
          <a:xfrm>
            <a:off x="922663" y="567798"/>
            <a:ext cx="6097836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and Architecture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70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4C1B-1C28-610C-91C0-1E1AD60B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9BE9EC-A3F5-3CEC-1CF6-4BB88684D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645" y="245806"/>
            <a:ext cx="10274710" cy="6223819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" name="Image 118">
            <a:extLst>
              <a:ext uri="{FF2B5EF4-FFF2-40B4-BE49-F238E27FC236}">
                <a16:creationId xmlns:a16="http://schemas.microsoft.com/office/drawing/2014/main" id="{380CC45D-B091-833D-78AA-2A2315AF857B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26" y="866922"/>
            <a:ext cx="4604446" cy="28731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D2EAA-7ADB-03D2-6F2F-82F5BA3DC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814" y="3018595"/>
            <a:ext cx="5605283" cy="35935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31B7D6-03CA-5391-EB42-4E40FDC22226}"/>
              </a:ext>
            </a:extLst>
          </p:cNvPr>
          <p:cNvSpPr txBox="1"/>
          <p:nvPr/>
        </p:nvSpPr>
        <p:spPr>
          <a:xfrm>
            <a:off x="768427" y="361464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3 – Enhanced EfficientNet-B4 + U-Net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81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7D2E-9243-257E-B478-178073AC7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009" y="1013791"/>
            <a:ext cx="10081591" cy="420590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 :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Cosine-decay schedule with 5-epoch warm-up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 BCE (Binary Cross-Entropy) + Dice Loss with equal weights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Mixed precision training (AMP) for memory efficiency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avoid overfitting.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trained under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preprocessing and augmentation protocols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fairness</a:t>
            </a:r>
          </a:p>
          <a:p>
            <a:pPr>
              <a:lnSpc>
                <a:spcPct val="12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609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61B25-87D8-77E8-1B8D-6E43D6F7C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94" y="255639"/>
            <a:ext cx="10441857" cy="60173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overall correct predictions.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Coefficient: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overlap between predicted and actual damage areas.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(Intersection over Union):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the common area shared between predicted and true regions.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DFA5AC1-C9DE-621B-0F5B-BECFCAB16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375432"/>
              </p:ext>
            </p:extLst>
          </p:nvPr>
        </p:nvGraphicFramePr>
        <p:xfrm>
          <a:off x="1796257" y="3816798"/>
          <a:ext cx="15347735" cy="253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705840" imgH="1109213" progId="Word.Document.12">
                  <p:embed/>
                </p:oleObj>
              </mc:Choice>
              <mc:Fallback>
                <p:oleObj name="Document" r:id="rId2" imgW="6705840" imgH="11092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6257" y="3816798"/>
                        <a:ext cx="15347735" cy="2536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A04FEA-F3F0-C82C-F771-4D2694FF675E}"/>
              </a:ext>
            </a:extLst>
          </p:cNvPr>
          <p:cNvSpPr txBox="1"/>
          <p:nvPr/>
        </p:nvSpPr>
        <p:spPr>
          <a:xfrm>
            <a:off x="1796257" y="3429000"/>
            <a:ext cx="921630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565">
              <a:lnSpc>
                <a:spcPct val="96000"/>
              </a:lnSpc>
              <a:spcBef>
                <a:spcPts val="790"/>
              </a:spcBef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</a:t>
            </a:r>
            <a:r>
              <a:rPr lang="en-US" sz="2000" b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I:</a:t>
            </a:r>
            <a:r>
              <a:rPr lang="en-US" sz="2000" b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comparison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unified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pothole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segmentation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dataset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(validation).</a:t>
            </a: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610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A8048ADF-C852-5A80-1721-9ABA645483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51407" y="4180086"/>
            <a:ext cx="765378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enhancement improved both Dice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scores.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skips reduced noise and deep supervision boosted learning speed.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5AAE540-F862-0DDB-52CB-2274DEE5F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226551"/>
              </p:ext>
            </p:extLst>
          </p:nvPr>
        </p:nvGraphicFramePr>
        <p:xfrm>
          <a:off x="1431234" y="1198812"/>
          <a:ext cx="19677863" cy="2958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705840" imgH="1007950" progId="Word.Document.12">
                  <p:embed/>
                </p:oleObj>
              </mc:Choice>
              <mc:Fallback>
                <p:oleObj name="Document" r:id="rId3" imgW="6705840" imgH="10079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1234" y="1198812"/>
                        <a:ext cx="19677863" cy="2958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6424C9-E9DE-BA4B-F885-3926AEF44824}"/>
              </a:ext>
            </a:extLst>
          </p:cNvPr>
          <p:cNvSpPr txBox="1"/>
          <p:nvPr/>
        </p:nvSpPr>
        <p:spPr>
          <a:xfrm>
            <a:off x="-844827" y="798702"/>
            <a:ext cx="105553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165" algn="ctr">
              <a:spcBef>
                <a:spcPts val="415"/>
              </a:spcBef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</a:t>
            </a:r>
            <a:r>
              <a:rPr lang="en-US" sz="20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III:</a:t>
            </a:r>
            <a:r>
              <a:rPr lang="en-US" sz="2000" b="1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Ablation</a:t>
            </a:r>
            <a:r>
              <a:rPr lang="en-US" sz="20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study</a:t>
            </a:r>
            <a:r>
              <a:rPr lang="en-US" sz="20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(validation).</a:t>
            </a: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07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15723D-BEE8-BCD9-EDF0-8F2964CC7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045" y="458428"/>
            <a:ext cx="9982199" cy="600136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Results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results show clear differences:</a:t>
            </a:r>
          </a:p>
          <a:p>
            <a:pPr lvl="1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Coarse boundaries and incomplete detection.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Boxes only, lacks segmentation accuracy.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Sharp, smooth pothole masks closely matching ground truth.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analysis confirms improved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precision and segmentation detail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DBE3D-C4F4-80A6-9955-42AC718F3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839" y="3549445"/>
            <a:ext cx="4607645" cy="307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94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8CAE8-33F5-30CC-C436-9C41EB933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278" y="1133061"/>
            <a:ext cx="10510471" cy="4086639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: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Smart-city infrastructure: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 road inspection and maintenance planning.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Fleet-based monitoring: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Mounted cameras on vehicles can detect road damage during travel.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analysis: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road-quality maps for prioritizing repairs.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extension: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can also detect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cracks, patches, and other surface anomalies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120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133B0-83F0-2E48-D2D6-2F5F7630A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264" y="1638300"/>
            <a:ext cx="9601200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covers limited locations → affects generalization.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and water reflection sometimes 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size (EfficientNet-B4)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embedded devices.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 and quantization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edge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034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6001C-1828-3243-967B-65D314B2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95" y="705080"/>
            <a:ext cx="10440792" cy="45146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across more geographic regions and conditions.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 or stereo sensors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pothole depth and volume.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variants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for mobile or vehicle systems.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architectures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global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27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9847C-890D-D7B7-4E14-30639EF8A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522" y="1371600"/>
            <a:ext cx="10451904" cy="38481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YOLOv8, and the proposed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-U-Net was conducted.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EfficientNet-B4 + U-Net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segmentation accuracy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= 0.74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0.62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shows strong potential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road damage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smart-city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will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optimization and multimodal fusion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009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504EF4-7606-AF2C-4227-816994F8F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235974"/>
            <a:ext cx="10392697" cy="6371303"/>
          </a:xfrm>
        </p:spPr>
        <p:txBody>
          <a:bodyPr>
            <a:normAutofit/>
          </a:bodyPr>
          <a:lstStyle/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Pham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“Optimizing YOLO Architectures for Road Damage Detection,”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Rahman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“Crowdsourced pothole detection with GPS and accelerometers,”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Transp. Eng.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D.-L. Bui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“Lightweight CNN models    for road damage detection,”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MDPI Electronics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Li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“Road crack detection using transformer networks,”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Argyroudis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“Robust detection of road damage using deep learning ensembles,”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in Construction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Safyari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Review of Vision-Based Pothole Detection Methods,”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Yurdakul and S.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Tasdemir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 Enhanced YOLOv8 Model for Real-Time Pothole Detection,”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Zuo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“Intelligent Road Crack Detection and Analysis Based on Improved YOLOv8,”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Ruseruka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“Pothole Detection and Dimension Estimation Using In-Vehicle Systems,”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Engineering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Zanevych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“Evaluation of Pothole Detection Under Low-Light Conditions,”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85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E244-8B6F-E32B-5AAB-7AB2024C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7337E9-4812-A679-625E-512B96B46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2990" y="734456"/>
            <a:ext cx="4267645" cy="59474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528F3-12A5-3107-D6E4-DC9B59425EBA}"/>
              </a:ext>
            </a:extLst>
          </p:cNvPr>
          <p:cNvSpPr txBox="1"/>
          <p:nvPr/>
        </p:nvSpPr>
        <p:spPr>
          <a:xfrm>
            <a:off x="838200" y="322010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 PROCEDINGS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EA8B43-AEDA-43AB-B2C0-184FD6178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485" y="818887"/>
            <a:ext cx="6016105" cy="586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60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71E21-2DF5-E4E3-1484-038509AA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8AD0-872D-2420-CE8C-72B4BEB4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C9DBE-F8B4-43A2-22C1-C59233F6886E}"/>
              </a:ext>
            </a:extLst>
          </p:cNvPr>
          <p:cNvSpPr txBox="1"/>
          <p:nvPr/>
        </p:nvSpPr>
        <p:spPr>
          <a:xfrm>
            <a:off x="838200" y="322010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 PROCEDINGS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5844624-A8B8-4F4F-7412-3E6463189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8188B9-5694-D884-B84A-8AB46790E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70" y="837282"/>
            <a:ext cx="7531459" cy="569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64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AB0568B-17F1-219D-8F1A-06D1729A7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43" y="0"/>
            <a:ext cx="9699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74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AD917E-7183-76B6-4C0C-2465C0CF3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43" y="0"/>
            <a:ext cx="9699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0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1613</Words>
  <Application>Microsoft Office PowerPoint</Application>
  <PresentationFormat>Widescreen</PresentationFormat>
  <Paragraphs>199</Paragraphs>
  <Slides>30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Wingdings</vt:lpstr>
      <vt:lpstr>Calibri Light</vt:lpstr>
      <vt:lpstr>Times New Roman</vt:lpstr>
      <vt:lpstr>Arial</vt:lpstr>
      <vt:lpstr>Calibri</vt:lpstr>
      <vt:lpstr>Office Theme</vt:lpstr>
      <vt:lpstr>Document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dhinesh3090@outlook.com</dc:creator>
  <cp:lastModifiedBy>Manikandan G</cp:lastModifiedBy>
  <cp:revision>3</cp:revision>
  <dcterms:created xsi:type="dcterms:W3CDTF">2025-10-10T05:54:58Z</dcterms:created>
  <dcterms:modified xsi:type="dcterms:W3CDTF">2025-11-01T02:50:16Z</dcterms:modified>
</cp:coreProperties>
</file>